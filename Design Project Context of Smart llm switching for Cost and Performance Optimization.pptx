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lianc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92608"/>
            <a:ext cx="315468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18872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3600" b="1">
                <a:solidFill>
                  <a:srgbClr val="1A1A1A"/>
                </a:solidFill>
                <a:latin typeface="Calibri"/>
              </a:defRPr>
            </a:pPr>
            <a:r>
              <a:t>Context-Aware Smart LLM Switching for Cost and Performance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A1A1A"/>
                </a:solidFill>
                <a:latin typeface="Calibri"/>
              </a:defRPr>
            </a:pPr>
            <a:r>
              <a:t>Team Members:</a:t>
            </a:r>
          </a:p>
          <a:p>
            <a:pPr>
              <a:spcAft>
                <a:spcPts val="5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1. NEVIN TONY - 2411021061276</a:t>
            </a:r>
          </a:p>
          <a:p>
            <a:pPr>
              <a:spcAft>
                <a:spcPts val="5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2. TEKUMUDI RAMA KRISHNA - 2411021061402</a:t>
            </a:r>
          </a:p>
          <a:p>
            <a:pPr>
              <a:spcAft>
                <a:spcPts val="5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3. SHAIK.MUHEEB AHAMAD BASHA - 2411021061091</a:t>
            </a:r>
          </a:p>
          <a:p>
            <a:pPr>
              <a:spcAft>
                <a:spcPts val="500"/>
              </a:spcAft>
              <a:defRPr sz="2000">
                <a:solidFill>
                  <a:srgbClr val="1A1A1A"/>
                </a:solidFill>
                <a:latin typeface="Calibri"/>
              </a:defRPr>
            </a:pPr>
            <a:r>
              <a:t>4. GAALI VAMSI KRISHNA - 2411021061062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2120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A1A1A"/>
                </a:solidFill>
                <a:latin typeface="Calibri"/>
              </a:defRPr>
            </a:pPr>
            <a:r>
              <a:t>Name of the Mentor: ____________________________________</a:t>
            </a:r>
          </a:p>
          <a:p>
            <a:pPr>
              <a:defRPr sz="2800">
                <a:solidFill>
                  <a:srgbClr val="1A1A1A"/>
                </a:solidFill>
                <a:latin typeface="Bookman Old Style"/>
              </a:defRPr>
            </a:pPr>
            <a:r>
              <a:t>E1CSA313/E1ITA306 Design Project -1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lianc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92608"/>
            <a:ext cx="315468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5760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4000" b="1">
                <a:solidFill>
                  <a:srgbClr val="1A1A1A"/>
                </a:solidFill>
                <a:latin typeface="Calibri"/>
              </a:defRPr>
            </a:pPr>
            <a:r>
              <a:t>INDEX TABLE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554480"/>
          <a:ext cx="100584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5943600"/>
              </a:tblGrid>
              <a:tr h="582930"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S.No</a:t>
                      </a:r>
                    </a:p>
                  </a:txBody>
                  <a:tcPr anchor="ctr">
                    <a:solidFill>
                      <a:srgbClr val="2F659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2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Contents</a:t>
                      </a:r>
                    </a:p>
                  </a:txBody>
                  <a:tcPr anchor="ctr">
                    <a:solidFill>
                      <a:srgbClr val="2F659C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Title of the Project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2.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Introduction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Overall Diagram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4.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Literature Review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Gap Analysis / Overall Gap in Existing Technology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6.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Conclusion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7.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References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lianc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92608"/>
            <a:ext cx="315468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5760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4000" b="1">
                <a:solidFill>
                  <a:srgbClr val="1A1A1A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2895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2300" b="1">
                <a:solidFill>
                  <a:srgbClr val="0F2C59"/>
                </a:solidFill>
                <a:latin typeface="Arial"/>
              </a:rPr>
              <a:t>•  </a:t>
            </a:r>
            <a:r>
              <a:rPr sz="2300">
                <a:solidFill>
                  <a:srgbClr val="1A1A1A"/>
                </a:solidFill>
                <a:latin typeface="Calibri"/>
              </a:rPr>
              <a:t>High inference cost is a major hurdle in AI applications, especially when calling premium models.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2300" b="1">
                <a:solidFill>
                  <a:srgbClr val="0F2C59"/>
                </a:solidFill>
                <a:latin typeface="Arial"/>
              </a:rPr>
              <a:t>•  </a:t>
            </a:r>
            <a:r>
              <a:rPr sz="2300">
                <a:solidFill>
                  <a:srgbClr val="1A1A1A"/>
                </a:solidFill>
                <a:latin typeface="Calibri"/>
              </a:rPr>
              <a:t>Most LLM systems route every incoming user query to a single heavy, expensive model.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2300" b="1">
                <a:solidFill>
                  <a:srgbClr val="0F2C59"/>
                </a:solidFill>
                <a:latin typeface="Arial"/>
              </a:rPr>
              <a:t>•  </a:t>
            </a:r>
            <a:r>
              <a:rPr sz="2300">
                <a:solidFill>
                  <a:srgbClr val="1A1A1A"/>
                </a:solidFill>
                <a:latin typeface="Calibri"/>
              </a:rPr>
              <a:t>Our project focuses on intelligently switching between models before generating the answer.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2300" b="1">
                <a:solidFill>
                  <a:srgbClr val="0F2C59"/>
                </a:solidFill>
                <a:latin typeface="Arial"/>
              </a:rPr>
              <a:t>•  </a:t>
            </a:r>
            <a:r>
              <a:rPr sz="2300">
                <a:solidFill>
                  <a:srgbClr val="1A1A1A"/>
                </a:solidFill>
                <a:latin typeface="Calibri"/>
              </a:rPr>
              <a:t>We use a lightweight Analyzer LLM as an early decision signal for task difficulty and context.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2300" b="1">
                <a:solidFill>
                  <a:srgbClr val="0F2C59"/>
                </a:solidFill>
                <a:latin typeface="Arial"/>
              </a:rPr>
              <a:t>•  </a:t>
            </a:r>
            <a:r>
              <a:rPr sz="2300">
                <a:solidFill>
                  <a:srgbClr val="1A1A1A"/>
                </a:solidFill>
                <a:latin typeface="Calibri"/>
              </a:rPr>
              <a:t>Simple queries are answered directly by the analyzer itself, saving unnecessary downstream calls.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2300" b="1">
                <a:solidFill>
                  <a:srgbClr val="0F2C59"/>
                </a:solidFill>
                <a:latin typeface="Arial"/>
              </a:rPr>
              <a:t>•  </a:t>
            </a:r>
            <a:r>
              <a:rPr sz="2300">
                <a:solidFill>
                  <a:srgbClr val="1A1A1A"/>
                </a:solidFill>
                <a:latin typeface="Calibri"/>
              </a:rPr>
              <a:t>Complex coding and reasoning tasks are switched to the most capable model for maximum accuracy.</a:t>
            </a:r>
          </a:p>
          <a:p>
            <a:pPr>
              <a:lnSpc>
                <a:spcPct val="118000"/>
              </a:lnSpc>
              <a:spcAft>
                <a:spcPts val="1300"/>
              </a:spcAft>
            </a:pPr>
            <a:r>
              <a:rPr sz="2300" b="1">
                <a:solidFill>
                  <a:srgbClr val="0F2C59"/>
                </a:solidFill>
                <a:latin typeface="Arial"/>
              </a:rPr>
              <a:t>•  </a:t>
            </a:r>
            <a:r>
              <a:rPr sz="2300">
                <a:solidFill>
                  <a:srgbClr val="1A1A1A"/>
                </a:solidFill>
                <a:latin typeface="Calibri"/>
              </a:rPr>
              <a:t>The real-time token usage, latency, and cost savings are displayed using an interactive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lianc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92608"/>
            <a:ext cx="315468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5760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4000" b="1">
                <a:solidFill>
                  <a:srgbClr val="1A1A1A"/>
                </a:solidFill>
                <a:latin typeface="Calibri"/>
              </a:defRPr>
            </a:pPr>
            <a:r>
              <a:t>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371600"/>
            <a:ext cx="5212080" cy="502920"/>
          </a:xfrm>
          <a:prstGeom prst="roundRect">
            <a:avLst/>
          </a:prstGeom>
          <a:solidFill>
            <a:srgbClr val="BDD7EE"/>
          </a:solidFill>
          <a:ln>
            <a:solidFill>
              <a:srgbClr val="2F6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A1A1A"/>
                </a:solidFill>
                <a:latin typeface="Calibri"/>
              </a:defRPr>
            </a:pPr>
            <a:r>
              <a:t>Overall System Diagram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1408176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1408176" cy="777240"/>
          </a:xfrm>
          <a:prstGeom prst="roundRect">
            <a:avLst/>
          </a:prstGeom>
          <a:solidFill>
            <a:srgbClr val="D9E1F2"/>
          </a:solidFill>
          <a:ln w="12700">
            <a:solidFill>
              <a:srgbClr val="2F6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200" b="1">
                <a:solidFill>
                  <a:srgbClr val="1A1A1A"/>
                </a:solidFill>
                <a:latin typeface="Calibri"/>
              </a:defRPr>
            </a:pPr>
            <a:r>
              <a:t>User Query</a:t>
            </a:r>
            <a:br/>
            <a: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1408176" cy="21031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User prompt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Chat history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Strategy mode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975104" y="3474720"/>
            <a:ext cx="128016" cy="164592"/>
          </a:xfrm>
          <a:prstGeom prst="rightArrow">
            <a:avLst/>
          </a:prstGeom>
          <a:solidFill>
            <a:srgbClr val="2F659C"/>
          </a:solidFill>
          <a:ln>
            <a:solidFill>
              <a:srgbClr val="2F6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21408" y="2103120"/>
            <a:ext cx="1408176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21408" y="2103120"/>
            <a:ext cx="1408176" cy="777240"/>
          </a:xfrm>
          <a:prstGeom prst="roundRect">
            <a:avLst/>
          </a:prstGeom>
          <a:solidFill>
            <a:srgbClr val="D9E1F2"/>
          </a:solidFill>
          <a:ln w="12700">
            <a:solidFill>
              <a:srgbClr val="2F6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200" b="1">
                <a:solidFill>
                  <a:srgbClr val="1A1A1A"/>
                </a:solidFill>
                <a:latin typeface="Calibri"/>
              </a:defRPr>
            </a:pPr>
            <a:r>
              <a:t>Request</a:t>
            </a:r>
            <a:br/>
            <a:r>
              <a:t>Guardrails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2971800"/>
            <a:ext cx="1408176" cy="21031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FastAPI gateway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Token context trim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Budget caps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547872" y="3474720"/>
            <a:ext cx="128016" cy="164592"/>
          </a:xfrm>
          <a:prstGeom prst="rightArrow">
            <a:avLst/>
          </a:prstGeom>
          <a:solidFill>
            <a:srgbClr val="2F659C"/>
          </a:solidFill>
          <a:ln>
            <a:solidFill>
              <a:srgbClr val="2F6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94176" y="2103120"/>
            <a:ext cx="1408176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94176" y="2103120"/>
            <a:ext cx="1408176" cy="777240"/>
          </a:xfrm>
          <a:prstGeom prst="roundRect">
            <a:avLst/>
          </a:prstGeom>
          <a:solidFill>
            <a:srgbClr val="D9E1F2"/>
          </a:solidFill>
          <a:ln w="12700">
            <a:solidFill>
              <a:srgbClr val="2F6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200" b="1">
                <a:solidFill>
                  <a:srgbClr val="1A1A1A"/>
                </a:solidFill>
                <a:latin typeface="Calibri"/>
              </a:defRPr>
            </a:pPr>
            <a:r>
              <a:t>Semantic</a:t>
            </a:r>
            <a:br/>
            <a:r>
              <a:t>Routing Cache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4176" y="2971800"/>
            <a:ext cx="1408176" cy="21031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SHA-1 query digest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Fast cache hit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&lt;15ms response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120640" y="3474720"/>
            <a:ext cx="128016" cy="164592"/>
          </a:xfrm>
          <a:prstGeom prst="rightArrow">
            <a:avLst/>
          </a:prstGeom>
          <a:solidFill>
            <a:srgbClr val="2F659C"/>
          </a:solidFill>
          <a:ln>
            <a:solidFill>
              <a:srgbClr val="2F6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66944" y="2103120"/>
            <a:ext cx="1408176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66944" y="2103120"/>
            <a:ext cx="1408176" cy="777240"/>
          </a:xfrm>
          <a:prstGeom prst="roundRect">
            <a:avLst/>
          </a:prstGeom>
          <a:solidFill>
            <a:srgbClr val="D9E1F2"/>
          </a:solidFill>
          <a:ln w="12700">
            <a:solidFill>
              <a:srgbClr val="2F6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200" b="1">
                <a:solidFill>
                  <a:srgbClr val="1A1A1A"/>
                </a:solidFill>
                <a:latin typeface="Calibri"/>
              </a:defRPr>
            </a:pPr>
            <a:r>
              <a:t>Dual-Role</a:t>
            </a:r>
            <a:br/>
            <a:r>
              <a:t>Analyzer LLM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6944" y="2971800"/>
            <a:ext cx="1408176" cy="21031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Task complexity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Self-Mode (1 call)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Switch-Mode signal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693408" y="3474720"/>
            <a:ext cx="128016" cy="164592"/>
          </a:xfrm>
          <a:prstGeom prst="rightArrow">
            <a:avLst/>
          </a:prstGeom>
          <a:solidFill>
            <a:srgbClr val="2F659C"/>
          </a:solidFill>
          <a:ln>
            <a:solidFill>
              <a:srgbClr val="2F6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39712" y="2103120"/>
            <a:ext cx="1408176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39712" y="2103120"/>
            <a:ext cx="1408176" cy="777240"/>
          </a:xfrm>
          <a:prstGeom prst="roundRect">
            <a:avLst/>
          </a:prstGeom>
          <a:solidFill>
            <a:srgbClr val="D9E1F2"/>
          </a:solidFill>
          <a:ln w="12700">
            <a:solidFill>
              <a:srgbClr val="2F6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200" b="1">
                <a:solidFill>
                  <a:srgbClr val="1A1A1A"/>
                </a:solidFill>
                <a:latin typeface="Calibri"/>
              </a:defRPr>
            </a:pPr>
            <a:r>
              <a:t>Smart Routing</a:t>
            </a:r>
            <a:br/>
            <a:r>
              <a:t>(7-Factor)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9712" y="2971800"/>
            <a:ext cx="1408176" cy="21031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Quality &amp; latency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Cost efficiency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Coding / reasoning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266176" y="3474720"/>
            <a:ext cx="128016" cy="164592"/>
          </a:xfrm>
          <a:prstGeom prst="rightArrow">
            <a:avLst/>
          </a:prstGeom>
          <a:solidFill>
            <a:srgbClr val="2F659C"/>
          </a:solidFill>
          <a:ln>
            <a:solidFill>
              <a:srgbClr val="2F6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412480" y="2103120"/>
            <a:ext cx="1408176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412480" y="2103120"/>
            <a:ext cx="1408176" cy="777240"/>
          </a:xfrm>
          <a:prstGeom prst="roundRect">
            <a:avLst/>
          </a:prstGeom>
          <a:solidFill>
            <a:srgbClr val="D9E1F2"/>
          </a:solidFill>
          <a:ln w="12700">
            <a:solidFill>
              <a:srgbClr val="2F6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200" b="1">
                <a:solidFill>
                  <a:srgbClr val="1A1A1A"/>
                </a:solidFill>
                <a:latin typeface="Calibri"/>
              </a:defRPr>
            </a:pPr>
            <a:r>
              <a:t>Resilient Model</a:t>
            </a:r>
            <a:br/>
            <a:r>
              <a:t>Execution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971800"/>
            <a:ext cx="1408176" cy="21031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Gemini / Groq / OpenAI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Circuit breaker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Automated fallback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838944" y="3474720"/>
            <a:ext cx="128016" cy="164592"/>
          </a:xfrm>
          <a:prstGeom prst="rightArrow">
            <a:avLst/>
          </a:prstGeom>
          <a:solidFill>
            <a:srgbClr val="2F659C"/>
          </a:solidFill>
          <a:ln>
            <a:solidFill>
              <a:srgbClr val="2F6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985248" y="2103120"/>
            <a:ext cx="1408176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985248" y="2103120"/>
            <a:ext cx="1408176" cy="777240"/>
          </a:xfrm>
          <a:prstGeom prst="roundRect">
            <a:avLst/>
          </a:prstGeom>
          <a:solidFill>
            <a:srgbClr val="D9E1F2"/>
          </a:solidFill>
          <a:ln w="12700">
            <a:solidFill>
              <a:srgbClr val="2F65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200" b="1">
                <a:solidFill>
                  <a:srgbClr val="1A1A1A"/>
                </a:solidFill>
                <a:latin typeface="Calibri"/>
              </a:defRPr>
            </a:pPr>
            <a:r>
              <a:t>Output</a:t>
            </a:r>
            <a:br/>
            <a:r>
              <a:t>(Dashboard)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85248" y="2971800"/>
            <a:ext cx="1408176" cy="2103120"/>
          </a:xfrm>
          <a:prstGeom prst="rect">
            <a:avLst/>
          </a:prstGeom>
          <a:noFill/>
        </p:spPr>
        <p:txBody>
          <a:bodyPr wrap="square" lIns="54864" rIns="54864" tIns="36576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Real-time SSE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Token &amp; cost audit</a:t>
            </a:r>
          </a:p>
          <a:p>
            <a:pPr>
              <a:spcAft>
                <a:spcPts val="400"/>
              </a:spcAft>
              <a:defRPr sz="1000">
                <a:solidFill>
                  <a:srgbClr val="1A1A1A"/>
                </a:solidFill>
                <a:latin typeface="Calibri"/>
              </a:defRPr>
            </a:pPr>
            <a:r>
              <a:t>• Savings inspector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91840" y="5577840"/>
            <a:ext cx="55778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A1A1A"/>
                </a:solidFill>
                <a:latin typeface="Calibri"/>
              </a:defRPr>
            </a:pPr>
            <a:r>
              <a:t>Continuous Monitoring &amp; Circuit Health Update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lianc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92608"/>
            <a:ext cx="315468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5760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4000" b="1">
                <a:solidFill>
                  <a:srgbClr val="1A1A1A"/>
                </a:solidFill>
                <a:latin typeface="Calibri"/>
              </a:defRPr>
            </a:pPr>
            <a:r>
              <a:t>LITERATURE REVIEW TABLE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725912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194560"/>
                <a:gridCol w="2468880"/>
                <a:gridCol w="1645920"/>
                <a:gridCol w="1920240"/>
                <a:gridCol w="1947672"/>
              </a:tblGrid>
              <a:tr h="8077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S.No</a:t>
                      </a:r>
                    </a:p>
                  </a:txBody>
                  <a:tcPr anchor="ctr" marL="73152" marR="73152" marT="45720" marB="45720">
                    <a:solidFill>
                      <a:srgbClr val="2F659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Author Name, Paper Title,</a:t>
                      </a:r>
                      <a:br/>
                      <a:r>
                        <a:t>Journal / Year</a:t>
                      </a:r>
                    </a:p>
                  </a:txBody>
                  <a:tcPr anchor="ctr" marL="73152" marR="73152" marT="45720" marB="45720">
                    <a:solidFill>
                      <a:srgbClr val="2F659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Research / Methodology / Dataset</a:t>
                      </a:r>
                    </a:p>
                  </a:txBody>
                  <a:tcPr anchor="ctr" marL="73152" marR="73152" marT="45720" marB="45720">
                    <a:solidFill>
                      <a:srgbClr val="2F659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Performance Metrics / Results</a:t>
                      </a:r>
                    </a:p>
                  </a:txBody>
                  <a:tcPr anchor="ctr" marL="73152" marR="73152" marT="45720" marB="45720">
                    <a:solidFill>
                      <a:srgbClr val="2F659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Advantages / Relevance to</a:t>
                      </a:r>
                      <a:br/>
                      <a:r>
                        <a:t>Proposed Project</a:t>
                      </a:r>
                    </a:p>
                  </a:txBody>
                  <a:tcPr anchor="ctr" marL="73152" marR="73152" marT="45720" marB="45720">
                    <a:solidFill>
                      <a:srgbClr val="2F659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Disadvantages / Limitations</a:t>
                      </a:r>
                    </a:p>
                  </a:txBody>
                  <a:tcPr anchor="ctr" marL="73152" marR="73152" marT="45720" marB="45720">
                    <a:solidFill>
                      <a:srgbClr val="2F659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0F2C59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Lingjiao Chen, Matei Zaharia,</a:t>
                      </a:r>
                      <a:br/>
                      <a:r>
                        <a:t>James Zou</a:t>
                      </a:r>
                      <a:br/>
                      <a:r>
                        <a:t>FrugalGPT</a:t>
                      </a:r>
                      <a:br/>
                      <a:r>
                        <a:t>Stanford, 2023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Model cascading with score-based completion stopping across multiple cloud LLMs.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Cost reduction up to 98%; matched individual performance of GPT-4 on benchmarks.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Proves multi-model cascading reduces expense; directly inspires our smart switching.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Sequential cascade causes compounding latency; cannot self-answer simple queries.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0F2C59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Isaac Ong, Amjad Almahairi et al.</a:t>
                      </a:r>
                      <a:br/>
                      <a:r>
                        <a:t>RouteLLM: Learning to Route</a:t>
                      </a:r>
                      <a:br/>
                      <a:r>
                        <a:t>LLMs with Preference Data</a:t>
                      </a:r>
                      <a:br/>
                      <a:r>
                        <a:t>LMSYS / UC Berkeley, 2024</a:t>
                      </a:r>
                    </a:p>
                  </a:txBody>
                  <a:tcPr anchor="ctr"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Router trained on Chatbot Arena human preference data with matrix factorization &amp; embeddings.</a:t>
                      </a:r>
                    </a:p>
                  </a:txBody>
                  <a:tcPr anchor="ctr"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Reduces cost by 50% while matching 95% GPT-4 quality; latency ~180ms.</a:t>
                      </a:r>
                    </a:p>
                  </a:txBody>
                  <a:tcPr anchor="ctr"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Validates that compact routers make accurate routing choices on user preferences.</a:t>
                      </a:r>
                    </a:p>
                  </a:txBody>
                  <a:tcPr anchor="ctr"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Limited to binary choices (2 models); no multi-provider fallback or budget caps.</a:t>
                      </a:r>
                    </a:p>
                  </a:txBody>
                  <a:tcPr anchor="ctr" marL="73152" marR="73152" marT="36576" marB="36576">
                    <a:solidFill>
                      <a:srgbClr val="E8EEF5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0F2C59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Yaniv Leviathan, Matan Kalman,</a:t>
                      </a:r>
                      <a:br/>
                      <a:r>
                        <a:t>Yossi Matias</a:t>
                      </a:r>
                      <a:br/>
                      <a:r>
                        <a:t>Speculative Decoding</a:t>
                      </a:r>
                      <a:br/>
                      <a:r>
                        <a:t>Google Research, ICML 2023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Small draft model proposes candidate tokens verified by large target LLM in parallel.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2x to 3x wall-clock latency speedup with mathematically identical token distribution.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Maintains 100% output fidelity while speeding up inference response.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Requires co-located GPU memory; cannot route across independent cloud APIs.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0F2C59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Tal Shnitzer et al.</a:t>
                      </a:r>
                      <a:br/>
                      <a:r>
                        <a:t>Large Language Model Routing</a:t>
                      </a:r>
                      <a:br/>
                      <a:r>
                        <a:t>with Benchmark Datasets</a:t>
                      </a:r>
                      <a:br/>
                      <a:r>
                        <a:t>NeurIPS ENLSP, 2023</a:t>
                      </a:r>
                    </a:p>
                  </a:txBody>
                  <a:tcPr anchor="ctr"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Classification-based router matching queries to specialized models using task embeddings.</a:t>
                      </a:r>
                    </a:p>
                  </a:txBody>
                  <a:tcPr anchor="ctr"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32% higher accuracy on GSM8K and HumanEval over standalone uniform models.</a:t>
                      </a:r>
                    </a:p>
                  </a:txBody>
                  <a:tcPr anchor="ctr"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Demonstrates that model specialization produces superior domain answers.</a:t>
                      </a:r>
                    </a:p>
                  </a:txBody>
                  <a:tcPr anchor="ctr"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High embedding overhead; static classifier requires retraining on new models.</a:t>
                      </a:r>
                    </a:p>
                  </a:txBody>
                  <a:tcPr anchor="ctr" marL="73152" marR="73152" marT="36576" marB="36576">
                    <a:solidFill>
                      <a:srgbClr val="E8EEF5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0F2C59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Kai Mei, Wujiang Xu et al.</a:t>
                      </a:r>
                      <a:br/>
                      <a:r>
                        <a:t>Routing to Diverse Language</a:t>
                      </a:r>
                      <a:br/>
                      <a:r>
                        <a:t>Models via Multi-Task Predictors</a:t>
                      </a:r>
                      <a:br/>
                      <a:r>
                        <a:t>IEEE TKDE, 2024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Multi-task performance predictors estimating accuracy and latency vectors across LLMs.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41% latency reduction and 62% cost savings across MMLU, ARC, and TriviaQA.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Provides an explicit Pareto frontier between quality, cost, and latency.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Trained on static benchmark questions; lacks real multi-turn conversation support.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lianc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92608"/>
            <a:ext cx="315468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5760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4000" b="1">
                <a:solidFill>
                  <a:srgbClr val="1A1A1A"/>
                </a:solidFill>
                <a:latin typeface="Calibri"/>
              </a:defRPr>
            </a:pPr>
            <a:r>
              <a:t>LITERATURE REVIEW TABLE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725912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194560"/>
                <a:gridCol w="2468880"/>
                <a:gridCol w="1645920"/>
                <a:gridCol w="1920240"/>
                <a:gridCol w="1947672"/>
              </a:tblGrid>
              <a:tr h="8077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S.No</a:t>
                      </a:r>
                    </a:p>
                  </a:txBody>
                  <a:tcPr anchor="ctr" marL="73152" marR="73152" marT="45720" marB="45720">
                    <a:solidFill>
                      <a:srgbClr val="2F659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Author Name, Paper Title,</a:t>
                      </a:r>
                      <a:br/>
                      <a:r>
                        <a:t>Journal / Year</a:t>
                      </a:r>
                    </a:p>
                  </a:txBody>
                  <a:tcPr anchor="ctr" marL="73152" marR="73152" marT="45720" marB="45720">
                    <a:solidFill>
                      <a:srgbClr val="2F659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Research / Methodology / Dataset</a:t>
                      </a:r>
                    </a:p>
                  </a:txBody>
                  <a:tcPr anchor="ctr" marL="73152" marR="73152" marT="45720" marB="45720">
                    <a:solidFill>
                      <a:srgbClr val="2F659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Performance Metrics / Results</a:t>
                      </a:r>
                    </a:p>
                  </a:txBody>
                  <a:tcPr anchor="ctr" marL="73152" marR="73152" marT="45720" marB="45720">
                    <a:solidFill>
                      <a:srgbClr val="2F659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Advantages / Relevance to</a:t>
                      </a:r>
                      <a:br/>
                      <a:r>
                        <a:t>Proposed Project</a:t>
                      </a:r>
                    </a:p>
                  </a:txBody>
                  <a:tcPr anchor="ctr" marL="73152" marR="73152" marT="45720" marB="45720">
                    <a:solidFill>
                      <a:srgbClr val="2F659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Disadvantages / Limitations</a:t>
                      </a:r>
                    </a:p>
                  </a:txBody>
                  <a:tcPr anchor="ctr" marL="73152" marR="73152" marT="45720" marB="45720">
                    <a:solidFill>
                      <a:srgbClr val="2F659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0F2C59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Junlin Wang, Jue Wang et al.</a:t>
                      </a:r>
                      <a:br/>
                      <a:r>
                        <a:t>Mixture-of-Agents Enhances</a:t>
                      </a:r>
                      <a:br/>
                      <a:r>
                        <a:t>LLM Capabilities</a:t>
                      </a:r>
                      <a:br/>
                      <a:r>
                        <a:t>Together AI, 2024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Layered multi-agent architecture where multiple open-weight LLMs synthesize outputs.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65.1% AlpacaEval 2.0 win rate, surpassing standalone GPT-4 Omni.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Shows that ensembling diverse model outputs produces strong reasoning quality.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Consumes Nx multiple tokens and high latency; unaffordable for cost-sensitive tasks.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0F2C59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Albert Q. Jiang et al.</a:t>
                      </a:r>
                      <a:br/>
                      <a:r>
                        <a:t>Mixtral of Experts</a:t>
                      </a:r>
                      <a:br/>
                      <a:r>
                        <a:t>Mistral AI Research, 2024</a:t>
                      </a:r>
                    </a:p>
                  </a:txBody>
                  <a:tcPr anchor="ctr"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Sparse Mixture of Experts router selecting top-2 feed-forward expert networks per token.</a:t>
                      </a:r>
                    </a:p>
                  </a:txBody>
                  <a:tcPr anchor="ctr"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Matches GPT-3.5 quality with 12.9B active parameters; 6x faster inference.</a:t>
                      </a:r>
                    </a:p>
                  </a:txBody>
                  <a:tcPr anchor="ctr"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Demonstrates token-level routing efficiency within a single weight architecture.</a:t>
                      </a:r>
                    </a:p>
                  </a:txBody>
                  <a:tcPr anchor="ctr"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Internal router cannot dynamically switch between third-party cloud APIs.</a:t>
                      </a:r>
                    </a:p>
                  </a:txBody>
                  <a:tcPr anchor="ctr" marL="73152" marR="73152" marT="36576" marB="36576">
                    <a:solidFill>
                      <a:srgbClr val="E8EEF5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0F2C59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Xupeng Miao et al.</a:t>
                      </a:r>
                      <a:br/>
                      <a:r>
                        <a:t>SpecInfer: Accelerating Generative</a:t>
                      </a:r>
                      <a:br/>
                      <a:r>
                        <a:t>LLM Serving</a:t>
                      </a:r>
                      <a:br/>
                      <a:r>
                        <a:t>ACM ASPLOS, 2024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Tree-based speculative inference using multiple small draft models to verify candidate trees.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2.6x to 3.5x serving throughput increase on distributed GPU clusters.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Saves GPU memory bandwidth and scales serving throughput efficiently.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Requires low-level CUDA integration; inapplicable to closed cloud APIs.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0F2C59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Dongfu Jiang, Xiang Ren, Bill Yuchen Lin</a:t>
                      </a:r>
                      <a:br/>
                      <a:r>
                        <a:t>LLM-Blender: Ensembling Models</a:t>
                      </a:r>
                      <a:br/>
                      <a:r>
                        <a:t>with Pairwise Ranking</a:t>
                      </a:r>
                      <a:br/>
                      <a:r>
                        <a:t>ACL Findings, 2023</a:t>
                      </a:r>
                    </a:p>
                  </a:txBody>
                  <a:tcPr anchor="ctr"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PairRanker module scores candidate answers followed by GenFuser generative synthesis.</a:t>
                      </a:r>
                    </a:p>
                  </a:txBody>
                  <a:tcPr anchor="ctr"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8.9% higher BLEURT and human preference over individual best model responses.</a:t>
                      </a:r>
                    </a:p>
                  </a:txBody>
                  <a:tcPr anchor="ctr"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Effectively ensembles candidate responses to resolve prompt ambiguity.</a:t>
                      </a:r>
                    </a:p>
                  </a:txBody>
                  <a:tcPr anchor="ctr" marL="73152" marR="73152" marT="36576" marB="36576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Runs all candidate models simultaneously, creating huge redundant API costs.</a:t>
                      </a:r>
                    </a:p>
                  </a:txBody>
                  <a:tcPr anchor="ctr" marL="73152" marR="73152" marT="36576" marB="36576">
                    <a:solidFill>
                      <a:srgbClr val="E8EEF5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0F2C59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Boyuan Chen, Siddharth Garg et al.</a:t>
                      </a:r>
                      <a:br/>
                      <a:r>
                        <a:t>Cost-Effective Model Cascading</a:t>
                      </a:r>
                      <a:br/>
                      <a:r>
                        <a:t>for Query Answering</a:t>
                      </a:r>
                      <a:br/>
                      <a:r>
                        <a:t>PVLDB Vol. 17, 2024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Confidence-calibrated cascade thresholding assessing query difficulty before dispatch.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58% inference cost reduction on enterprise QA workloads with &lt;1.5% accuracy drop.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Rigorous mathematical formulation for difficulty assessment and dispatch.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19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Lacks provider circuit breakers, fallback chains, and context budgeting.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lianc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92608"/>
            <a:ext cx="315468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5760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4000" b="1">
                <a:solidFill>
                  <a:srgbClr val="1A1A1A"/>
                </a:solidFill>
                <a:latin typeface="Calibri"/>
              </a:defRPr>
            </a:pPr>
            <a:r>
              <a:t>GAP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2895" cy="4846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2300" b="1">
                <a:solidFill>
                  <a:srgbClr val="0F2C59"/>
                </a:solidFill>
                <a:latin typeface="Arial"/>
              </a:rPr>
              <a:t>•  </a:t>
            </a:r>
            <a:r>
              <a:rPr sz="2300">
                <a:solidFill>
                  <a:srgbClr val="1A1A1A"/>
                </a:solidFill>
                <a:latin typeface="Calibri"/>
              </a:rPr>
              <a:t>Existing LLM deployment architectures treat all user queries equally, sending basic questions to expensive models.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2300" b="1">
                <a:solidFill>
                  <a:srgbClr val="0F2C59"/>
                </a:solidFill>
                <a:latin typeface="Arial"/>
              </a:rPr>
              <a:t>•  </a:t>
            </a:r>
            <a:r>
              <a:rPr sz="2300">
                <a:solidFill>
                  <a:srgbClr val="1A1A1A"/>
                </a:solidFill>
                <a:latin typeface="Calibri"/>
              </a:rPr>
              <a:t>Most current routers function solely as passive dispatchers, always calling an external model rather than answering simple queries directly.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2300" b="1">
                <a:solidFill>
                  <a:srgbClr val="0F2C59"/>
                </a:solidFill>
                <a:latin typeface="Arial"/>
              </a:rPr>
              <a:t>•  </a:t>
            </a:r>
            <a:r>
              <a:rPr sz="2300">
                <a:solidFill>
                  <a:srgbClr val="1A1A1A"/>
                </a:solidFill>
                <a:latin typeface="Calibri"/>
              </a:rPr>
              <a:t>Traditional sequential cascading models test small models first and escalate on failure, causing compounding latency delays on difficult tasks.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2300" b="1">
                <a:solidFill>
                  <a:srgbClr val="0F2C59"/>
                </a:solidFill>
                <a:latin typeface="Arial"/>
              </a:rPr>
              <a:t>•  </a:t>
            </a:r>
            <a:r>
              <a:rPr sz="2300">
                <a:solidFill>
                  <a:srgbClr val="1A1A1A"/>
                </a:solidFill>
                <a:latin typeface="Calibri"/>
              </a:rPr>
              <a:t>Many existing routing systems only support binary choices (cheap vs. expensive), ignoring multi-tier options like dedicated coding or ultra-fast models.</a:t>
            </a:r>
          </a:p>
          <a:p>
            <a:pPr>
              <a:lnSpc>
                <a:spcPct val="118000"/>
              </a:lnSpc>
              <a:spcAft>
                <a:spcPts val="1400"/>
              </a:spcAft>
            </a:pPr>
            <a:r>
              <a:rPr sz="2300" b="1">
                <a:solidFill>
                  <a:srgbClr val="0F2C59"/>
                </a:solidFill>
                <a:latin typeface="Arial"/>
              </a:rPr>
              <a:t>•  </a:t>
            </a:r>
            <a:r>
              <a:rPr sz="2300">
                <a:solidFill>
                  <a:srgbClr val="1A1A1A"/>
                </a:solidFill>
                <a:latin typeface="Calibri"/>
              </a:rPr>
              <a:t>Cloud provider disruptions such as rate limits (HTTP 429) and network timeouts are rarely addressed in existing routing frameworks.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lianc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92608"/>
            <a:ext cx="315468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5760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4000" b="1">
                <a:solidFill>
                  <a:srgbClr val="1A1A1A"/>
                </a:solidFill>
                <a:latin typeface="Calibri"/>
              </a:defRPr>
            </a:pPr>
            <a:r>
              <a:t>GAP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2400"/>
              </a:spcAft>
            </a:pPr>
            <a:r>
              <a:rPr sz="2500" b="1">
                <a:solidFill>
                  <a:srgbClr val="0F2C59"/>
                </a:solidFill>
                <a:latin typeface="Arial"/>
              </a:rPr>
              <a:t>•  </a:t>
            </a:r>
            <a:r>
              <a:rPr sz="2500">
                <a:solidFill>
                  <a:srgbClr val="1A1A1A"/>
                </a:solidFill>
                <a:latin typeface="Calibri"/>
              </a:rPr>
              <a:t>There is a gap in combining proactive self-answering, multi-factor model selection, provider circuit breaking, and honest token tracking into a single unified system.</a:t>
            </a:r>
          </a:p>
          <a:p>
            <a:pPr>
              <a:lnSpc>
                <a:spcPct val="118000"/>
              </a:lnSpc>
              <a:spcAft>
                <a:spcPts val="2400"/>
              </a:spcAft>
            </a:pPr>
            <a:r>
              <a:rPr sz="2500" b="1">
                <a:solidFill>
                  <a:srgbClr val="0F2C59"/>
                </a:solidFill>
                <a:latin typeface="Arial"/>
              </a:rPr>
              <a:t>•  </a:t>
            </a:r>
            <a:r>
              <a:rPr sz="2500">
                <a:solidFill>
                  <a:srgbClr val="1A1A1A"/>
                </a:solidFill>
                <a:latin typeface="Calibri"/>
              </a:rPr>
              <a:t>Our project attempts to fill this gap by creating an adaptive, context-aware switching framework that answers routine queries in a single pass, intelligently switches complex tasks to specialized models, and maintains continuous availability with automatic fallback.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lianc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92608"/>
            <a:ext cx="315468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5760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4000" b="1">
                <a:solidFill>
                  <a:srgbClr val="1A1A1A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6289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2200"/>
              </a:spcAft>
            </a:pPr>
            <a:r>
              <a:rPr sz="2500" b="1">
                <a:solidFill>
                  <a:srgbClr val="0F2C59"/>
                </a:solidFill>
                <a:latin typeface="Arial"/>
              </a:rPr>
              <a:t>•  </a:t>
            </a:r>
            <a:r>
              <a:rPr sz="2500">
                <a:solidFill>
                  <a:srgbClr val="1A1A1A"/>
                </a:solidFill>
                <a:latin typeface="Calibri"/>
              </a:rPr>
              <a:t>Our project presents a proactive approach to LLM serving by using a fast Analyzer LLM and the context of the conversation to identify query difficulty in advance and route to the most suitable model.</a:t>
            </a:r>
          </a:p>
          <a:p>
            <a:pPr>
              <a:lnSpc>
                <a:spcPct val="118000"/>
              </a:lnSpc>
              <a:spcAft>
                <a:spcPts val="2200"/>
              </a:spcAft>
            </a:pPr>
            <a:r>
              <a:rPr sz="2500" b="1">
                <a:solidFill>
                  <a:srgbClr val="0F2C59"/>
                </a:solidFill>
                <a:latin typeface="Arial"/>
              </a:rPr>
              <a:t>•  </a:t>
            </a:r>
            <a:r>
              <a:rPr sz="2500">
                <a:solidFill>
                  <a:srgbClr val="1A1A1A"/>
                </a:solidFill>
                <a:latin typeface="Calibri"/>
              </a:rPr>
              <a:t>It resolves simple queries directly in one call to save costs, while dynamically routing complex coding and reasoning prompts to top-performing models, delivering results through a simple dashboard that helps move from blind model calling to intelligent, cost-optimized switching.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lianc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92608"/>
            <a:ext cx="315468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5760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4000" b="1">
                <a:solidFill>
                  <a:srgbClr val="1A1A1A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800" b="1">
                <a:solidFill>
                  <a:srgbClr val="0F2C59"/>
                </a:solidFill>
                <a:latin typeface="Arial"/>
              </a:rPr>
              <a:t>•  </a:t>
            </a:r>
            <a:r>
              <a:rPr sz="1800">
                <a:solidFill>
                  <a:srgbClr val="1A1A1A"/>
                </a:solidFill>
                <a:latin typeface="Calibri"/>
              </a:rPr>
              <a:t>Lingjiao Chen, Matei Zaharia, James Zou, “FrugalGPT: How to Use Large Language Models While Reducing Cost and Improving Performance,” arXiv preprint arXiv:2305.05176, 2023.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800" b="1">
                <a:solidFill>
                  <a:srgbClr val="0F2C59"/>
                </a:solidFill>
                <a:latin typeface="Arial"/>
              </a:rPr>
              <a:t>•  </a:t>
            </a:r>
            <a:r>
              <a:rPr sz="1800">
                <a:solidFill>
                  <a:srgbClr val="1A1A1A"/>
                </a:solidFill>
                <a:latin typeface="Calibri"/>
              </a:rPr>
              <a:t>Isaac Ong, Amjad Almahairi, et al., “RouteLLM: Learning to Route LLMs with Preference Data,” LMSYS Org, arXiv preprint arXiv:2406.18665, 2024.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800" b="1">
                <a:solidFill>
                  <a:srgbClr val="0F2C59"/>
                </a:solidFill>
                <a:latin typeface="Arial"/>
              </a:rPr>
              <a:t>•  </a:t>
            </a:r>
            <a:r>
              <a:rPr sz="1800">
                <a:solidFill>
                  <a:srgbClr val="1A1A1A"/>
                </a:solidFill>
                <a:latin typeface="Calibri"/>
              </a:rPr>
              <a:t>Yaniv Leviathan, Matan Kalman, Yossi Matias, “Fast Inference from Transformers via Speculative Decoding,” International Conference on Machine Learning (ICML), PMLR 202:19274-19286, 2023.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800" b="1">
                <a:solidFill>
                  <a:srgbClr val="0F2C59"/>
                </a:solidFill>
                <a:latin typeface="Arial"/>
              </a:rPr>
              <a:t>•  </a:t>
            </a:r>
            <a:r>
              <a:rPr sz="1800">
                <a:solidFill>
                  <a:srgbClr val="1A1A1A"/>
                </a:solidFill>
                <a:latin typeface="Calibri"/>
              </a:rPr>
              <a:t>Tal Shnitzer, et al., “Large Language Model Routing with Benchmark Datasets,” NeurIPS Workshop on Efficient Natural Language and Speech Processing (ENLSP), 2023.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800" b="1">
                <a:solidFill>
                  <a:srgbClr val="0F2C59"/>
                </a:solidFill>
                <a:latin typeface="Arial"/>
              </a:rPr>
              <a:t>•  </a:t>
            </a:r>
            <a:r>
              <a:rPr sz="1800">
                <a:solidFill>
                  <a:srgbClr val="1A1A1A"/>
                </a:solidFill>
                <a:latin typeface="Calibri"/>
              </a:rPr>
              <a:t>Kai Mei, Wujiang Xu, Yongfeng Zhang, et al., “Routing to Diverse Language Models via Multi-Task Performance Predictors,” IEEE Transactions on Knowledge and Data Engineering (TKDE), 2024.</a:t>
            </a:r>
          </a:p>
          <a:p>
            <a:pPr>
              <a:lnSpc>
                <a:spcPct val="118000"/>
              </a:lnSpc>
              <a:spcAft>
                <a:spcPts val="1000"/>
              </a:spcAft>
            </a:pPr>
            <a:r>
              <a:rPr sz="1800" b="1">
                <a:solidFill>
                  <a:srgbClr val="0F2C59"/>
                </a:solidFill>
                <a:latin typeface="Arial"/>
              </a:rPr>
              <a:t>•  </a:t>
            </a:r>
            <a:r>
              <a:rPr sz="1800">
                <a:solidFill>
                  <a:srgbClr val="1A1A1A"/>
                </a:solidFill>
                <a:latin typeface="Calibri"/>
              </a:rPr>
              <a:t>Junlin Wang, Jue Wang, et al., “Mixture-of-Agents Enhances Large Language Model Capabilities,” Together AI Research, arXiv preprint arXiv:2406.04692, 2024.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lliance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292608"/>
            <a:ext cx="3154680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65760"/>
            <a:ext cx="1036289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4000" b="1">
                <a:solidFill>
                  <a:srgbClr val="1A1A1A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2000" b="1">
                <a:solidFill>
                  <a:srgbClr val="0F2C59"/>
                </a:solidFill>
                <a:latin typeface="Arial"/>
              </a:rPr>
              <a:t>•  </a:t>
            </a:r>
            <a:r>
              <a:rPr sz="2000">
                <a:solidFill>
                  <a:srgbClr val="1A1A1A"/>
                </a:solidFill>
                <a:latin typeface="Calibri"/>
              </a:rPr>
              <a:t>Albert Q. Jiang, et al., “Mixtral of Experts,” Mistral AI Research, arXiv preprint arXiv:2401.04088, 2024.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2000" b="1">
                <a:solidFill>
                  <a:srgbClr val="0F2C59"/>
                </a:solidFill>
                <a:latin typeface="Arial"/>
              </a:rPr>
              <a:t>•  </a:t>
            </a:r>
            <a:r>
              <a:rPr sz="2000">
                <a:solidFill>
                  <a:srgbClr val="1A1A1A"/>
                </a:solidFill>
                <a:latin typeface="Calibri"/>
              </a:rPr>
              <a:t>Xupeng Miao, et al., “SpecInfer: Accelerating Generative LLM Serving with Tree-based Speculative Inference and Verification,” ACM ASPLOS, 2024.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2000" b="1">
                <a:solidFill>
                  <a:srgbClr val="0F2C59"/>
                </a:solidFill>
                <a:latin typeface="Arial"/>
              </a:rPr>
              <a:t>•  </a:t>
            </a:r>
            <a:r>
              <a:rPr sz="2000">
                <a:solidFill>
                  <a:srgbClr val="1A1A1A"/>
                </a:solidFill>
                <a:latin typeface="Calibri"/>
              </a:rPr>
              <a:t>Dongfu Jiang, Xiang Ren, Bill Yuchen Lin, “LLM-Blender: Ensembling Large Language Models with Pairwise Ranking and Generative Fusion,” Findings of the ACL, pp. 8045-8065, 2023.</a:t>
            </a:r>
          </a:p>
          <a:p>
            <a:pPr>
              <a:lnSpc>
                <a:spcPct val="118000"/>
              </a:lnSpc>
              <a:spcAft>
                <a:spcPts val="1600"/>
              </a:spcAft>
            </a:pPr>
            <a:r>
              <a:rPr sz="2000" b="1">
                <a:solidFill>
                  <a:srgbClr val="0F2C59"/>
                </a:solidFill>
                <a:latin typeface="Arial"/>
              </a:rPr>
              <a:t>•  </a:t>
            </a:r>
            <a:r>
              <a:rPr sz="2000">
                <a:solidFill>
                  <a:srgbClr val="1A1A1A"/>
                </a:solidFill>
                <a:latin typeface="Calibri"/>
              </a:rPr>
              <a:t>Boyuan Chen, Mingzhi Zhu, Siddharth Garg, et al., “Cost-Effective Model Cascading for Query Answering,” Proceedings of the VLDB Endowment (PVLDB), Vol. 17, No. 6, 2024.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