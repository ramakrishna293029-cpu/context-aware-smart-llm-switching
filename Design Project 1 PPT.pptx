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lliance_logo_cl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0" y="292608"/>
            <a:ext cx="3154680" cy="5943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155680" y="6446520"/>
            <a:ext cx="73152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595959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A1A1A"/>
                </a:solidFill>
                <a:latin typeface="Times New Roman"/>
              </a:defRPr>
            </a:pPr>
            <a:r>
              <a:t>Context-Aware Smart LLM Switching for Cost and Performance Optimization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743200"/>
            <a:ext cx="106984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1A1A1A"/>
                </a:solidFill>
                <a:latin typeface="Times New Roman"/>
              </a:defRPr>
            </a:pPr>
            <a:r>
              <a:t>Team Members:</a:t>
            </a:r>
          </a:p>
          <a:p>
            <a:pPr>
              <a:spcAft>
                <a:spcPts val="400"/>
              </a:spcAft>
              <a:defRPr sz="2000">
                <a:solidFill>
                  <a:srgbClr val="1A1A1A"/>
                </a:solidFill>
                <a:latin typeface="Times New Roman"/>
              </a:defRPr>
            </a:pPr>
            <a:r>
              <a:t>1. NEVIN TONY - 2411021061276</a:t>
            </a:r>
          </a:p>
          <a:p>
            <a:pPr>
              <a:spcAft>
                <a:spcPts val="400"/>
              </a:spcAft>
              <a:defRPr sz="2000">
                <a:solidFill>
                  <a:srgbClr val="1A1A1A"/>
                </a:solidFill>
                <a:latin typeface="Times New Roman"/>
              </a:defRPr>
            </a:pPr>
            <a:r>
              <a:t>2. TEKUMUDI RAMA KRISHNA - 2411021061402</a:t>
            </a:r>
          </a:p>
          <a:p>
            <a:pPr>
              <a:spcAft>
                <a:spcPts val="400"/>
              </a:spcAft>
              <a:defRPr sz="2000">
                <a:solidFill>
                  <a:srgbClr val="1A1A1A"/>
                </a:solidFill>
                <a:latin typeface="Times New Roman"/>
              </a:defRPr>
            </a:pPr>
            <a:r>
              <a:t>3. SHAIK.MUHEEB AHAMAD BASHA - 2411021061091</a:t>
            </a:r>
          </a:p>
          <a:p>
            <a:pPr>
              <a:spcAft>
                <a:spcPts val="400"/>
              </a:spcAft>
              <a:defRPr sz="2000">
                <a:solidFill>
                  <a:srgbClr val="1A1A1A"/>
                </a:solidFill>
                <a:latin typeface="Times New Roman"/>
              </a:defRPr>
            </a:pPr>
            <a:r>
              <a:t>4. GAALI VAMSI KRISHNA - 2411021061062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120640"/>
            <a:ext cx="106984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1A1A1A"/>
                </a:solidFill>
                <a:latin typeface="Times New Roman"/>
              </a:defRPr>
            </a:pPr>
            <a:r>
              <a:t>Name of the Mentor: ____________________________________</a:t>
            </a:r>
          </a:p>
          <a:p>
            <a:pPr>
              <a:defRPr sz="2800">
                <a:solidFill>
                  <a:srgbClr val="1A1A1A"/>
                </a:solidFill>
                <a:latin typeface="Bookman Old Style"/>
              </a:defRPr>
            </a:pPr>
            <a:r>
              <a:t>E1CSA313 Design Project -1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lliance_logo_cl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0" y="292608"/>
            <a:ext cx="3154680" cy="5943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365760"/>
            <a:ext cx="77724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1A1A1A"/>
                </a:solidFill>
                <a:latin typeface="Times New Roman"/>
              </a:defRPr>
            </a:pPr>
            <a: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46520"/>
            <a:ext cx="73152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595959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700"/>
              </a:spcAft>
              <a:defRPr sz="2100">
                <a:solidFill>
                  <a:srgbClr val="1A1A1A"/>
                </a:solidFill>
                <a:latin typeface="Times New Roman"/>
              </a:defRPr>
            </a:pPr>
            <a:r>
              <a:t>1.  Introduction</a:t>
            </a:r>
          </a:p>
          <a:p>
            <a:pPr>
              <a:lnSpc>
                <a:spcPct val="115000"/>
              </a:lnSpc>
              <a:spcAft>
                <a:spcPts val="700"/>
              </a:spcAft>
              <a:defRPr sz="2100">
                <a:solidFill>
                  <a:srgbClr val="1A1A1A"/>
                </a:solidFill>
                <a:latin typeface="Times New Roman"/>
              </a:defRPr>
            </a:pPr>
            <a:r>
              <a:t>2.  Review of literature (Refer minimum of 10 Recent Journal / Conference papers)</a:t>
            </a:r>
          </a:p>
          <a:p>
            <a:pPr>
              <a:lnSpc>
                <a:spcPct val="115000"/>
              </a:lnSpc>
              <a:spcAft>
                <a:spcPts val="700"/>
              </a:spcAft>
              <a:defRPr sz="2100">
                <a:solidFill>
                  <a:srgbClr val="1A1A1A"/>
                </a:solidFill>
                <a:latin typeface="Times New Roman"/>
              </a:defRPr>
            </a:pPr>
            <a:r>
              <a:t>3.  Observations from the literature review (Brief description as points)</a:t>
            </a:r>
          </a:p>
          <a:p>
            <a:pPr>
              <a:lnSpc>
                <a:spcPct val="115000"/>
              </a:lnSpc>
              <a:spcAft>
                <a:spcPts val="700"/>
              </a:spcAft>
              <a:defRPr sz="2100">
                <a:solidFill>
                  <a:srgbClr val="1A1A1A"/>
                </a:solidFill>
                <a:latin typeface="Times New Roman"/>
              </a:defRPr>
            </a:pPr>
            <a:r>
              <a:t>4.  Limitations from the literature review (Brief description as points)</a:t>
            </a:r>
          </a:p>
          <a:p>
            <a:pPr>
              <a:lnSpc>
                <a:spcPct val="115000"/>
              </a:lnSpc>
              <a:spcAft>
                <a:spcPts val="700"/>
              </a:spcAft>
              <a:defRPr sz="2100">
                <a:solidFill>
                  <a:srgbClr val="1A1A1A"/>
                </a:solidFill>
                <a:latin typeface="Times New Roman"/>
              </a:defRPr>
            </a:pPr>
            <a:r>
              <a:t>5.  Problem Definition &amp; Proposed Methodology</a:t>
            </a:r>
          </a:p>
          <a:p>
            <a:pPr>
              <a:lnSpc>
                <a:spcPct val="115000"/>
              </a:lnSpc>
              <a:spcAft>
                <a:spcPts val="700"/>
              </a:spcAft>
              <a:defRPr sz="2100">
                <a:solidFill>
                  <a:srgbClr val="1A1A1A"/>
                </a:solidFill>
                <a:latin typeface="Times New Roman"/>
              </a:defRPr>
            </a:pPr>
            <a:r>
              <a:t>      a.  Problem Statement</a:t>
            </a:r>
          </a:p>
          <a:p>
            <a:pPr>
              <a:lnSpc>
                <a:spcPct val="115000"/>
              </a:lnSpc>
              <a:spcAft>
                <a:spcPts val="700"/>
              </a:spcAft>
              <a:defRPr sz="2100">
                <a:solidFill>
                  <a:srgbClr val="1A1A1A"/>
                </a:solidFill>
                <a:latin typeface="Times New Roman"/>
              </a:defRPr>
            </a:pPr>
            <a:r>
              <a:t>      b.  Proposed Research / Methodology</a:t>
            </a:r>
          </a:p>
          <a:p>
            <a:pPr>
              <a:lnSpc>
                <a:spcPct val="115000"/>
              </a:lnSpc>
              <a:spcAft>
                <a:spcPts val="700"/>
              </a:spcAft>
              <a:defRPr sz="2100">
                <a:solidFill>
                  <a:srgbClr val="1A1A1A"/>
                </a:solidFill>
                <a:latin typeface="Times New Roman"/>
              </a:defRPr>
            </a:pPr>
            <a:r>
              <a:t>      c.  Hardware Requirements</a:t>
            </a:r>
          </a:p>
          <a:p>
            <a:pPr>
              <a:lnSpc>
                <a:spcPct val="115000"/>
              </a:lnSpc>
              <a:spcAft>
                <a:spcPts val="700"/>
              </a:spcAft>
              <a:defRPr sz="2100">
                <a:solidFill>
                  <a:srgbClr val="1A1A1A"/>
                </a:solidFill>
                <a:latin typeface="Times New Roman"/>
              </a:defRPr>
            </a:pPr>
            <a:r>
              <a:t>      d.  Software Requirements</a:t>
            </a:r>
          </a:p>
          <a:p>
            <a:pPr>
              <a:lnSpc>
                <a:spcPct val="115000"/>
              </a:lnSpc>
              <a:spcAft>
                <a:spcPts val="700"/>
              </a:spcAft>
              <a:defRPr sz="2100">
                <a:solidFill>
                  <a:srgbClr val="1A1A1A"/>
                </a:solidFill>
                <a:latin typeface="Times New Roman"/>
              </a:defRPr>
            </a:pPr>
            <a:r>
              <a:t>6.  References (Min. of 10 papers)</a:t>
            </a:r>
          </a:p>
          <a:p>
            <a:pPr>
              <a:lnSpc>
                <a:spcPct val="115000"/>
              </a:lnSpc>
              <a:spcAft>
                <a:spcPts val="700"/>
              </a:spcAft>
              <a:defRPr sz="2100">
                <a:solidFill>
                  <a:srgbClr val="1A1A1A"/>
                </a:solidFill>
                <a:latin typeface="Times New Roman"/>
              </a:defRPr>
            </a:pPr>
            <a:r>
              <a:t>7.  Plagiarism Report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lliance_logo_cl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0" y="292608"/>
            <a:ext cx="3154680" cy="5943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365760"/>
            <a:ext cx="77724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1A1A1A"/>
                </a:solidFill>
                <a:latin typeface="Times New Roman"/>
              </a:defRPr>
            </a:pPr>
            <a:r>
              <a:t>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46520"/>
            <a:ext cx="73152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595959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  <a:spcAft>
                <a:spcPts val="1200"/>
              </a:spcAft>
            </a:pPr>
            <a:r>
              <a:rPr sz="2300">
                <a:solidFill>
                  <a:srgbClr val="1A1A1A"/>
                </a:solidFill>
                <a:latin typeface="Arial"/>
              </a:rPr>
              <a:t>•  </a:t>
            </a:r>
            <a:r>
              <a:rPr sz="2300">
                <a:solidFill>
                  <a:srgbClr val="1A1A1A"/>
                </a:solidFill>
                <a:latin typeface="Calibri"/>
              </a:rPr>
              <a:t>Using large language models for every task is becoming very costly.</a:t>
            </a:r>
          </a:p>
          <a:p>
            <a:pPr>
              <a:lnSpc>
                <a:spcPct val="118000"/>
              </a:lnSpc>
              <a:spcAft>
                <a:spcPts val="1200"/>
              </a:spcAft>
            </a:pPr>
            <a:r>
              <a:rPr sz="2300">
                <a:solidFill>
                  <a:srgbClr val="1A1A1A"/>
                </a:solidFill>
                <a:latin typeface="Arial"/>
              </a:rPr>
              <a:t>•  </a:t>
            </a:r>
            <a:r>
              <a:rPr sz="2300">
                <a:solidFill>
                  <a:srgbClr val="1A1A1A"/>
                </a:solidFill>
                <a:latin typeface="Calibri"/>
              </a:rPr>
              <a:t>In most applications, all user questions are sent to the same expensive model.</a:t>
            </a:r>
          </a:p>
          <a:p>
            <a:pPr>
              <a:lnSpc>
                <a:spcPct val="118000"/>
              </a:lnSpc>
              <a:spcAft>
                <a:spcPts val="1200"/>
              </a:spcAft>
            </a:pPr>
            <a:r>
              <a:rPr sz="2300">
                <a:solidFill>
                  <a:srgbClr val="1A1A1A"/>
                </a:solidFill>
                <a:latin typeface="Arial"/>
              </a:rPr>
              <a:t>•  </a:t>
            </a:r>
            <a:r>
              <a:rPr sz="2300">
                <a:solidFill>
                  <a:srgbClr val="1A1A1A"/>
                </a:solidFill>
                <a:latin typeface="Calibri"/>
              </a:rPr>
              <a:t>Many user queries are actually simple, like greetings, basic facts, or definitions.</a:t>
            </a:r>
          </a:p>
          <a:p>
            <a:pPr>
              <a:lnSpc>
                <a:spcPct val="118000"/>
              </a:lnSpc>
              <a:spcAft>
                <a:spcPts val="1200"/>
              </a:spcAft>
            </a:pPr>
            <a:r>
              <a:rPr sz="2300">
                <a:solidFill>
                  <a:srgbClr val="1A1A1A"/>
                </a:solidFill>
                <a:latin typeface="Arial"/>
              </a:rPr>
              <a:t>•  </a:t>
            </a:r>
            <a:r>
              <a:rPr sz="2300">
                <a:solidFill>
                  <a:srgbClr val="1A1A1A"/>
                </a:solidFill>
                <a:latin typeface="Calibri"/>
              </a:rPr>
              <a:t>Sending simple queries to large models wastes both money and response time.</a:t>
            </a:r>
          </a:p>
          <a:p>
            <a:pPr>
              <a:lnSpc>
                <a:spcPct val="118000"/>
              </a:lnSpc>
              <a:spcAft>
                <a:spcPts val="1200"/>
              </a:spcAft>
            </a:pPr>
            <a:r>
              <a:rPr sz="2300">
                <a:solidFill>
                  <a:srgbClr val="1A1A1A"/>
                </a:solidFill>
                <a:latin typeface="Arial"/>
              </a:rPr>
              <a:t>•  </a:t>
            </a:r>
            <a:r>
              <a:rPr sz="2300">
                <a:solidFill>
                  <a:srgbClr val="1A1A1A"/>
                </a:solidFill>
                <a:latin typeface="Calibri"/>
              </a:rPr>
              <a:t>Our project introduces smart switching between models based on query context.</a:t>
            </a:r>
          </a:p>
          <a:p>
            <a:pPr>
              <a:lnSpc>
                <a:spcPct val="118000"/>
              </a:lnSpc>
              <a:spcAft>
                <a:spcPts val="1200"/>
              </a:spcAft>
            </a:pPr>
            <a:r>
              <a:rPr sz="2300">
                <a:solidFill>
                  <a:srgbClr val="1A1A1A"/>
                </a:solidFill>
                <a:latin typeface="Arial"/>
              </a:rPr>
              <a:t>•  </a:t>
            </a:r>
            <a:r>
              <a:rPr sz="2300">
                <a:solidFill>
                  <a:srgbClr val="1A1A1A"/>
                </a:solidFill>
                <a:latin typeface="Calibri"/>
              </a:rPr>
              <a:t>A lightweight Analyzer LLM checks the question and context first.</a:t>
            </a:r>
          </a:p>
          <a:p>
            <a:pPr>
              <a:lnSpc>
                <a:spcPct val="118000"/>
              </a:lnSpc>
              <a:spcAft>
                <a:spcPts val="1200"/>
              </a:spcAft>
            </a:pPr>
            <a:r>
              <a:rPr sz="2300">
                <a:solidFill>
                  <a:srgbClr val="1A1A1A"/>
                </a:solidFill>
                <a:latin typeface="Arial"/>
              </a:rPr>
              <a:t>•  </a:t>
            </a:r>
            <a:r>
              <a:rPr sz="2300">
                <a:solidFill>
                  <a:srgbClr val="1A1A1A"/>
                </a:solidFill>
                <a:latin typeface="Calibri"/>
              </a:rPr>
              <a:t>Simple questions are answered directly by the analyzer in one step.</a:t>
            </a:r>
          </a:p>
          <a:p>
            <a:pPr>
              <a:lnSpc>
                <a:spcPct val="118000"/>
              </a:lnSpc>
              <a:spcAft>
                <a:spcPts val="1200"/>
              </a:spcAft>
            </a:pPr>
            <a:r>
              <a:rPr sz="2300">
                <a:solidFill>
                  <a:srgbClr val="1A1A1A"/>
                </a:solidFill>
                <a:latin typeface="Arial"/>
              </a:rPr>
              <a:t>•  </a:t>
            </a:r>
            <a:r>
              <a:rPr sz="2300">
                <a:solidFill>
                  <a:srgbClr val="1A1A1A"/>
                </a:solidFill>
                <a:latin typeface="Calibri"/>
              </a:rPr>
              <a:t>Complex coding and reasoning tasks are switched to more capable models.</a:t>
            </a:r>
          </a:p>
          <a:p>
            <a:pPr>
              <a:lnSpc>
                <a:spcPct val="118000"/>
              </a:lnSpc>
              <a:spcAft>
                <a:spcPts val="1200"/>
              </a:spcAft>
            </a:pPr>
            <a:r>
              <a:rPr sz="2300">
                <a:solidFill>
                  <a:srgbClr val="1A1A1A"/>
                </a:solidFill>
                <a:latin typeface="Arial"/>
              </a:rPr>
              <a:t>•  </a:t>
            </a:r>
            <a:r>
              <a:rPr sz="2300">
                <a:solidFill>
                  <a:srgbClr val="1A1A1A"/>
                </a:solidFill>
                <a:latin typeface="Calibri"/>
              </a:rPr>
              <a:t>This helps users and developers reduce API costs while maintaining high answer quality.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lliance_logo_cl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0" y="292608"/>
            <a:ext cx="3154680" cy="5943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365760"/>
            <a:ext cx="77724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1A1A1A"/>
                </a:solidFill>
                <a:latin typeface="Times New Roman"/>
              </a:defRPr>
            </a:pPr>
            <a:r>
              <a:t>Review of literature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46520"/>
            <a:ext cx="73152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595959"/>
                </a:solidFill>
                <a:latin typeface="Calibri"/>
              </a:defRPr>
            </a:pPr>
            <a:r>
              <a:t>4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371600"/>
          <a:ext cx="10725912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"/>
                <a:gridCol w="2194560"/>
                <a:gridCol w="2468880"/>
                <a:gridCol w="1645920"/>
                <a:gridCol w="1920240"/>
                <a:gridCol w="1947672"/>
              </a:tblGrid>
              <a:tr h="807720"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S.No</a:t>
                      </a:r>
                    </a:p>
                  </a:txBody>
                  <a:tcPr anchor="ctr" marL="73152" marR="73152" marT="45720" marB="45720">
                    <a:solidFill>
                      <a:srgbClr val="2F659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Author Name, Paper Title,</a:t>
                      </a:r>
                      <a:br/>
                      <a:r>
                        <a:t>Journal / Year</a:t>
                      </a:r>
                    </a:p>
                  </a:txBody>
                  <a:tcPr anchor="ctr" marL="73152" marR="73152" marT="45720" marB="45720">
                    <a:solidFill>
                      <a:srgbClr val="2F659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Research / Methodology / Dataset</a:t>
                      </a:r>
                    </a:p>
                  </a:txBody>
                  <a:tcPr anchor="ctr" marL="73152" marR="73152" marT="45720" marB="45720">
                    <a:solidFill>
                      <a:srgbClr val="2F659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Performance Metrics / Results</a:t>
                      </a:r>
                    </a:p>
                  </a:txBody>
                  <a:tcPr anchor="ctr" marL="73152" marR="73152" marT="45720" marB="45720">
                    <a:solidFill>
                      <a:srgbClr val="2F659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Advantages / Relevance to</a:t>
                      </a:r>
                      <a:br/>
                      <a:r>
                        <a:t>Proposed Project</a:t>
                      </a:r>
                    </a:p>
                  </a:txBody>
                  <a:tcPr anchor="ctr" marL="73152" marR="73152" marT="45720" marB="45720">
                    <a:solidFill>
                      <a:srgbClr val="2F659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Disadvantages / Limitations</a:t>
                      </a:r>
                    </a:p>
                  </a:txBody>
                  <a:tcPr anchor="ctr" marL="73152" marR="73152" marT="45720" marB="45720">
                    <a:solidFill>
                      <a:srgbClr val="2F659C"/>
                    </a:solidFill>
                  </a:tcPr>
                </a:tc>
              </a:tr>
              <a:tr h="807720">
                <a:tc>
                  <a:txBody>
                    <a:bodyPr/>
                    <a:lstStyle/>
                    <a:p>
                      <a:pPr algn="ctr">
                        <a:defRPr sz="919" b="1">
                          <a:solidFill>
                            <a:srgbClr val="0F2C59"/>
                          </a:solidFill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19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Lingjiao Chen, Matei Zaharia,</a:t>
                      </a:r>
                      <a:br/>
                      <a:r>
                        <a:t>James Zou</a:t>
                      </a:r>
                      <a:br/>
                      <a:r>
                        <a:t>FrugalGPT</a:t>
                      </a:r>
                      <a:br/>
                      <a:r>
                        <a:t>Stanford, 2023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19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Model cascading with score-based completion stopping across multiple cloud LLMs.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19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Cost reduction up to 98%; matched individual performance of GPT-4 on benchmarks.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19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Proves multi-model cascading reduces expense; directly inspires our smart switching.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19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Sequential cascade causes compounding latency; cannot self-answer simple queries.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</a:tr>
              <a:tr h="807720">
                <a:tc>
                  <a:txBody>
                    <a:bodyPr/>
                    <a:lstStyle/>
                    <a:p>
                      <a:pPr algn="ctr">
                        <a:defRPr sz="919" b="1">
                          <a:solidFill>
                            <a:srgbClr val="0F2C59"/>
                          </a:solidFill>
                          <a:latin typeface="Calibri"/>
                        </a:defRPr>
                      </a:pPr>
                      <a:r>
                        <a:t>2</a:t>
                      </a:r>
                    </a:p>
                  </a:txBody>
                  <a:tcPr anchor="ctr" marL="73152" marR="73152" marT="36576" marB="36576">
                    <a:solidFill>
                      <a:srgbClr val="EBF1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19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Isaac Ong, Amjad Almahairi et al.</a:t>
                      </a:r>
                      <a:br/>
                      <a:r>
                        <a:t>RouteLLM: Learning to Route</a:t>
                      </a:r>
                      <a:br/>
                      <a:r>
                        <a:t>LLMs with Preference Data</a:t>
                      </a:r>
                      <a:br/>
                      <a:r>
                        <a:t>LMSYS / UC Berkeley, 2024</a:t>
                      </a:r>
                    </a:p>
                  </a:txBody>
                  <a:tcPr anchor="ctr" marL="73152" marR="73152" marT="36576" marB="36576">
                    <a:solidFill>
                      <a:srgbClr val="EBF1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19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Router trained on Chatbot Arena human preference data with matrix factorization &amp; embeddings.</a:t>
                      </a:r>
                    </a:p>
                  </a:txBody>
                  <a:tcPr anchor="ctr" marL="73152" marR="73152" marT="36576" marB="36576">
                    <a:solidFill>
                      <a:srgbClr val="EBF1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19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Reduces cost by 50% while matching 95% GPT-4 quality; latency ~180ms.</a:t>
                      </a:r>
                    </a:p>
                  </a:txBody>
                  <a:tcPr anchor="ctr" marL="73152" marR="73152" marT="36576" marB="36576">
                    <a:solidFill>
                      <a:srgbClr val="EBF1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19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Validates that compact routers make accurate routing choices on user preferences.</a:t>
                      </a:r>
                    </a:p>
                  </a:txBody>
                  <a:tcPr anchor="ctr" marL="73152" marR="73152" marT="36576" marB="36576">
                    <a:solidFill>
                      <a:srgbClr val="EBF1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19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Limited to binary choices (2 models); no multi-provider fallback or budget caps.</a:t>
                      </a:r>
                    </a:p>
                  </a:txBody>
                  <a:tcPr anchor="ctr" marL="73152" marR="73152" marT="36576" marB="36576">
                    <a:solidFill>
                      <a:srgbClr val="EBF1F8"/>
                    </a:solidFill>
                  </a:tcPr>
                </a:tc>
              </a:tr>
              <a:tr h="807720">
                <a:tc>
                  <a:txBody>
                    <a:bodyPr/>
                    <a:lstStyle/>
                    <a:p>
                      <a:pPr algn="ctr">
                        <a:defRPr sz="919" b="1">
                          <a:solidFill>
                            <a:srgbClr val="0F2C59"/>
                          </a:solidFill>
                          <a:latin typeface="Calibri"/>
                        </a:defRPr>
                      </a:pPr>
                      <a:r>
                        <a:t>3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19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Yaniv Leviathan, Matan Kalman,</a:t>
                      </a:r>
                      <a:br/>
                      <a:r>
                        <a:t>Yossi Matias</a:t>
                      </a:r>
                      <a:br/>
                      <a:r>
                        <a:t>Speculative Decoding</a:t>
                      </a:r>
                      <a:br/>
                      <a:r>
                        <a:t>Google Research, ICML 2023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19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Small draft model proposes candidate tokens verified by large target LLM in parallel.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19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2x to 3x wall-clock latency speedup with mathematically identical token distribution.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19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Maintains 100% output fidelity while speeding up inference response.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19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Requires co-located GPU memory; cannot route across independent cloud APIs.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</a:tr>
              <a:tr h="807720">
                <a:tc>
                  <a:txBody>
                    <a:bodyPr/>
                    <a:lstStyle/>
                    <a:p>
                      <a:pPr algn="ctr">
                        <a:defRPr sz="919" b="1">
                          <a:solidFill>
                            <a:srgbClr val="0F2C59"/>
                          </a:solidFill>
                          <a:latin typeface="Calibri"/>
                        </a:defRPr>
                      </a:pPr>
                      <a:r>
                        <a:t>4</a:t>
                      </a:r>
                    </a:p>
                  </a:txBody>
                  <a:tcPr anchor="ctr" marL="73152" marR="73152" marT="36576" marB="36576">
                    <a:solidFill>
                      <a:srgbClr val="EBF1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19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Tal Shnitzer et al.</a:t>
                      </a:r>
                      <a:br/>
                      <a:r>
                        <a:t>Large Language Model Routing</a:t>
                      </a:r>
                      <a:br/>
                      <a:r>
                        <a:t>with Benchmark Datasets</a:t>
                      </a:r>
                      <a:br/>
                      <a:r>
                        <a:t>NeurIPS ENLSP, 2023</a:t>
                      </a:r>
                    </a:p>
                  </a:txBody>
                  <a:tcPr anchor="ctr" marL="73152" marR="73152" marT="36576" marB="36576">
                    <a:solidFill>
                      <a:srgbClr val="EBF1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19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Classification-based router matching queries to specialized models using task embeddings.</a:t>
                      </a:r>
                    </a:p>
                  </a:txBody>
                  <a:tcPr anchor="ctr" marL="73152" marR="73152" marT="36576" marB="36576">
                    <a:solidFill>
                      <a:srgbClr val="EBF1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19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32% higher accuracy on GSM8K and HumanEval over standalone uniform models.</a:t>
                      </a:r>
                    </a:p>
                  </a:txBody>
                  <a:tcPr anchor="ctr" marL="73152" marR="73152" marT="36576" marB="36576">
                    <a:solidFill>
                      <a:srgbClr val="EBF1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19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Demonstrates that model specialization produces superior domain answers.</a:t>
                      </a:r>
                    </a:p>
                  </a:txBody>
                  <a:tcPr anchor="ctr" marL="73152" marR="73152" marT="36576" marB="36576">
                    <a:solidFill>
                      <a:srgbClr val="EBF1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19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High embedding overhead; static classifier requires retraining on new models.</a:t>
                      </a:r>
                    </a:p>
                  </a:txBody>
                  <a:tcPr anchor="ctr" marL="73152" marR="73152" marT="36576" marB="36576">
                    <a:solidFill>
                      <a:srgbClr val="EBF1F8"/>
                    </a:solidFill>
                  </a:tcPr>
                </a:tc>
              </a:tr>
              <a:tr h="807720">
                <a:tc>
                  <a:txBody>
                    <a:bodyPr/>
                    <a:lstStyle/>
                    <a:p>
                      <a:pPr algn="ctr">
                        <a:defRPr sz="919" b="1">
                          <a:solidFill>
                            <a:srgbClr val="0F2C59"/>
                          </a:solidFill>
                          <a:latin typeface="Calibri"/>
                        </a:defRPr>
                      </a:pPr>
                      <a:r>
                        <a:t>5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19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Kai Mei, Wujiang Xu et al.</a:t>
                      </a:r>
                      <a:br/>
                      <a:r>
                        <a:t>OmniRouter: Budget and Performance</a:t>
                      </a:r>
                      <a:br/>
                      <a:r>
                        <a:t>Controllable Multi-LLM Routing</a:t>
                      </a:r>
                      <a:br/>
                      <a:r>
                        <a:t>ACM SIGKDD, 2024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19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Multi-task performance predictors estimating accuracy and latency vectors across LLMs.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19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41% latency reduction and 62% cost savings across MMLU, ARC, and TriviaQA.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19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Provides an explicit Pareto frontier between quality, cost, and latency.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19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Trained on static benchmark questions; lacks real multi-turn conversation support.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lliance_logo_cl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0" y="292608"/>
            <a:ext cx="3154680" cy="5943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365760"/>
            <a:ext cx="77724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1A1A1A"/>
                </a:solidFill>
                <a:latin typeface="Times New Roman"/>
              </a:defRPr>
            </a:pPr>
            <a:r>
              <a:t>Review of literature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46520"/>
            <a:ext cx="73152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595959"/>
                </a:solidFill>
                <a:latin typeface="Calibri"/>
              </a:defRPr>
            </a:pPr>
            <a:r>
              <a:t>5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371600"/>
          <a:ext cx="10725912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"/>
                <a:gridCol w="2194560"/>
                <a:gridCol w="2468880"/>
                <a:gridCol w="1645920"/>
                <a:gridCol w="1920240"/>
                <a:gridCol w="1947672"/>
              </a:tblGrid>
              <a:tr h="807720"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S.No</a:t>
                      </a:r>
                    </a:p>
                  </a:txBody>
                  <a:tcPr anchor="ctr" marL="73152" marR="73152" marT="45720" marB="45720">
                    <a:solidFill>
                      <a:srgbClr val="2F659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Author Name, Paper Title,</a:t>
                      </a:r>
                      <a:br/>
                      <a:r>
                        <a:t>Journal / Year</a:t>
                      </a:r>
                    </a:p>
                  </a:txBody>
                  <a:tcPr anchor="ctr" marL="73152" marR="73152" marT="45720" marB="45720">
                    <a:solidFill>
                      <a:srgbClr val="2F659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Research / Methodology / Dataset</a:t>
                      </a:r>
                    </a:p>
                  </a:txBody>
                  <a:tcPr anchor="ctr" marL="73152" marR="73152" marT="45720" marB="45720">
                    <a:solidFill>
                      <a:srgbClr val="2F659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Performance Metrics / Results</a:t>
                      </a:r>
                    </a:p>
                  </a:txBody>
                  <a:tcPr anchor="ctr" marL="73152" marR="73152" marT="45720" marB="45720">
                    <a:solidFill>
                      <a:srgbClr val="2F659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Advantages / Relevance to</a:t>
                      </a:r>
                      <a:br/>
                      <a:r>
                        <a:t>Proposed Project</a:t>
                      </a:r>
                    </a:p>
                  </a:txBody>
                  <a:tcPr anchor="ctr" marL="73152" marR="73152" marT="45720" marB="45720">
                    <a:solidFill>
                      <a:srgbClr val="2F659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Disadvantages / Limitations</a:t>
                      </a:r>
                    </a:p>
                  </a:txBody>
                  <a:tcPr anchor="ctr" marL="73152" marR="73152" marT="45720" marB="45720">
                    <a:solidFill>
                      <a:srgbClr val="2F659C"/>
                    </a:solidFill>
                  </a:tcPr>
                </a:tc>
              </a:tr>
              <a:tr h="807720">
                <a:tc>
                  <a:txBody>
                    <a:bodyPr/>
                    <a:lstStyle/>
                    <a:p>
                      <a:pPr algn="ctr">
                        <a:defRPr sz="919" b="1">
                          <a:solidFill>
                            <a:srgbClr val="0F2C59"/>
                          </a:solidFill>
                          <a:latin typeface="Calibri"/>
                        </a:defRPr>
                      </a:pPr>
                      <a:r>
                        <a:t>6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19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Junlin Wang, Jue Wang et al.</a:t>
                      </a:r>
                      <a:br/>
                      <a:r>
                        <a:t>Mixture-of-Agents Enhances</a:t>
                      </a:r>
                      <a:br/>
                      <a:r>
                        <a:t>LLM Capabilities</a:t>
                      </a:r>
                      <a:br/>
                      <a:r>
                        <a:t>Together AI, 2024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19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Layered multi-agent architecture where multiple open-weight LLMs synthesize outputs.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19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65.1% AlpacaEval 2.0 win rate, surpassing standalone GPT-4 Omni.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19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Shows that ensembling diverse model outputs produces strong reasoning quality.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19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Consumes Nx multiple tokens and high latency; unaffordable for cost-sensitive tasks.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</a:tr>
              <a:tr h="807720">
                <a:tc>
                  <a:txBody>
                    <a:bodyPr/>
                    <a:lstStyle/>
                    <a:p>
                      <a:pPr algn="ctr">
                        <a:defRPr sz="919" b="1">
                          <a:solidFill>
                            <a:srgbClr val="0F2C59"/>
                          </a:solidFill>
                          <a:latin typeface="Calibri"/>
                        </a:defRPr>
                      </a:pPr>
                      <a:r>
                        <a:t>7</a:t>
                      </a:r>
                    </a:p>
                  </a:txBody>
                  <a:tcPr anchor="ctr" marL="73152" marR="73152" marT="36576" marB="36576">
                    <a:solidFill>
                      <a:srgbClr val="EBF1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19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Albert Q. Jiang et al.</a:t>
                      </a:r>
                      <a:br/>
                      <a:r>
                        <a:t>Mixtral of Experts</a:t>
                      </a:r>
                      <a:br/>
                      <a:r>
                        <a:t>Mistral AI Research, 2024</a:t>
                      </a:r>
                    </a:p>
                  </a:txBody>
                  <a:tcPr anchor="ctr" marL="73152" marR="73152" marT="36576" marB="36576">
                    <a:solidFill>
                      <a:srgbClr val="EBF1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19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Sparse Mixture of Experts router selecting top-2 feed-forward expert networks per token.</a:t>
                      </a:r>
                    </a:p>
                  </a:txBody>
                  <a:tcPr anchor="ctr" marL="73152" marR="73152" marT="36576" marB="36576">
                    <a:solidFill>
                      <a:srgbClr val="EBF1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19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Matches GPT-3.5 quality with 12.9B active parameters; 6x faster inference.</a:t>
                      </a:r>
                    </a:p>
                  </a:txBody>
                  <a:tcPr anchor="ctr" marL="73152" marR="73152" marT="36576" marB="36576">
                    <a:solidFill>
                      <a:srgbClr val="EBF1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19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Demonstrates token-level routing efficiency within a single weight architecture.</a:t>
                      </a:r>
                    </a:p>
                  </a:txBody>
                  <a:tcPr anchor="ctr" marL="73152" marR="73152" marT="36576" marB="36576">
                    <a:solidFill>
                      <a:srgbClr val="EBF1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19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Internal router cannot dynamically switch between third-party cloud APIs.</a:t>
                      </a:r>
                    </a:p>
                  </a:txBody>
                  <a:tcPr anchor="ctr" marL="73152" marR="73152" marT="36576" marB="36576">
                    <a:solidFill>
                      <a:srgbClr val="EBF1F8"/>
                    </a:solidFill>
                  </a:tcPr>
                </a:tc>
              </a:tr>
              <a:tr h="807720">
                <a:tc>
                  <a:txBody>
                    <a:bodyPr/>
                    <a:lstStyle/>
                    <a:p>
                      <a:pPr algn="ctr">
                        <a:defRPr sz="919" b="1">
                          <a:solidFill>
                            <a:srgbClr val="0F2C59"/>
                          </a:solidFill>
                          <a:latin typeface="Calibri"/>
                        </a:defRPr>
                      </a:pPr>
                      <a:r>
                        <a:t>8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19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Xupeng Miao et al.</a:t>
                      </a:r>
                      <a:br/>
                      <a:r>
                        <a:t>SpecInfer: Accelerating Generative</a:t>
                      </a:r>
                      <a:br/>
                      <a:r>
                        <a:t>LLM Serving</a:t>
                      </a:r>
                      <a:br/>
                      <a:r>
                        <a:t>ACM ASPLOS, 2024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19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Tree-based speculative inference using multiple small draft models to verify candidate trees.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19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2.6x to 3.5x serving throughput increase on distributed GPU clusters.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19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Saves GPU memory bandwidth and scales serving throughput efficiently.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19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Requires low-level CUDA integration; inapplicable to closed cloud APIs.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</a:tr>
              <a:tr h="807720">
                <a:tc>
                  <a:txBody>
                    <a:bodyPr/>
                    <a:lstStyle/>
                    <a:p>
                      <a:pPr algn="ctr">
                        <a:defRPr sz="919" b="1">
                          <a:solidFill>
                            <a:srgbClr val="0F2C59"/>
                          </a:solidFill>
                          <a:latin typeface="Calibri"/>
                        </a:defRPr>
                      </a:pPr>
                      <a:r>
                        <a:t>9</a:t>
                      </a:r>
                    </a:p>
                  </a:txBody>
                  <a:tcPr anchor="ctr" marL="73152" marR="73152" marT="36576" marB="36576">
                    <a:solidFill>
                      <a:srgbClr val="EBF1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19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Dongfu Jiang, Xiang Ren, Bill Yuchen Lin</a:t>
                      </a:r>
                      <a:br/>
                      <a:r>
                        <a:t>LLM-Blender: Ensembling Models</a:t>
                      </a:r>
                      <a:br/>
                      <a:r>
                        <a:t>with Pairwise Ranking</a:t>
                      </a:r>
                      <a:br/>
                      <a:r>
                        <a:t>ACL Findings, 2023</a:t>
                      </a:r>
                    </a:p>
                  </a:txBody>
                  <a:tcPr anchor="ctr" marL="73152" marR="73152" marT="36576" marB="36576">
                    <a:solidFill>
                      <a:srgbClr val="EBF1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19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PairRanker module scores candidate answers followed by GenFuser generative synthesis.</a:t>
                      </a:r>
                    </a:p>
                  </a:txBody>
                  <a:tcPr anchor="ctr" marL="73152" marR="73152" marT="36576" marB="36576">
                    <a:solidFill>
                      <a:srgbClr val="EBF1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19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8.9% higher BLEURT and human preference over individual best model responses.</a:t>
                      </a:r>
                    </a:p>
                  </a:txBody>
                  <a:tcPr anchor="ctr" marL="73152" marR="73152" marT="36576" marB="36576">
                    <a:solidFill>
                      <a:srgbClr val="EBF1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19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Effectively ensembles candidate responses to resolve prompt ambiguity.</a:t>
                      </a:r>
                    </a:p>
                  </a:txBody>
                  <a:tcPr anchor="ctr" marL="73152" marR="73152" marT="36576" marB="36576">
                    <a:solidFill>
                      <a:srgbClr val="EBF1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19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Runs all candidate models simultaneously, creating huge redundant API costs.</a:t>
                      </a:r>
                    </a:p>
                  </a:txBody>
                  <a:tcPr anchor="ctr" marL="73152" marR="73152" marT="36576" marB="36576">
                    <a:solidFill>
                      <a:srgbClr val="EBF1F8"/>
                    </a:solidFill>
                  </a:tcPr>
                </a:tc>
              </a:tr>
              <a:tr h="807720">
                <a:tc>
                  <a:txBody>
                    <a:bodyPr/>
                    <a:lstStyle/>
                    <a:p>
                      <a:pPr algn="ctr">
                        <a:defRPr sz="919" b="1">
                          <a:solidFill>
                            <a:srgbClr val="0F2C59"/>
                          </a:solidFill>
                          <a:latin typeface="Calibri"/>
                        </a:defRPr>
                      </a:pPr>
                      <a:r>
                        <a:t>10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19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Boyuan Chen, Siddharth Garg et al.</a:t>
                      </a:r>
                      <a:br/>
                      <a:r>
                        <a:t>Cost-Effective Model Cascading</a:t>
                      </a:r>
                      <a:br/>
                      <a:r>
                        <a:t>for Query Answering</a:t>
                      </a:r>
                      <a:br/>
                      <a:r>
                        <a:t>PVLDB Vol. 17, 2024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19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Confidence-calibrated cascade thresholding assessing query difficulty before dispatch.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19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58% inference cost reduction on enterprise QA workloads with &lt;1.5% accuracy drop.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19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Rigorous mathematical formulation for difficulty assessment and dispatch.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19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Lacks provider circuit breakers, fallback chains, and context budgeting.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lliance_logo_cl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0" y="292608"/>
            <a:ext cx="3154680" cy="5943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365760"/>
            <a:ext cx="77724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1A1A1A"/>
                </a:solidFill>
                <a:latin typeface="Times New Roman"/>
              </a:defRPr>
            </a:pPr>
            <a:r>
              <a:t>Observations from the Literature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46520"/>
            <a:ext cx="73152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595959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69848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  <a:spcAft>
                <a:spcPts val="1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•  </a:t>
            </a:r>
            <a:r>
              <a:rPr sz="2400">
                <a:solidFill>
                  <a:srgbClr val="1A1A1A"/>
                </a:solidFill>
                <a:latin typeface="Calibri"/>
              </a:rPr>
              <a:t>AI models are widely used for answering diverse user queries.</a:t>
            </a:r>
          </a:p>
          <a:p>
            <a:pPr>
              <a:lnSpc>
                <a:spcPct val="118000"/>
              </a:lnSpc>
              <a:spcAft>
                <a:spcPts val="1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•  </a:t>
            </a:r>
            <a:r>
              <a:rPr sz="2400">
                <a:solidFill>
                  <a:srgbClr val="1A1A1A"/>
                </a:solidFill>
                <a:latin typeface="Calibri"/>
              </a:rPr>
              <a:t>Most studies show that over 60% of user queries are low or medium complexity.</a:t>
            </a:r>
          </a:p>
          <a:p>
            <a:pPr>
              <a:lnSpc>
                <a:spcPct val="118000"/>
              </a:lnSpc>
              <a:spcAft>
                <a:spcPts val="1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•  </a:t>
            </a:r>
            <a:r>
              <a:rPr sz="2400">
                <a:solidFill>
                  <a:srgbClr val="1A1A1A"/>
                </a:solidFill>
                <a:latin typeface="Calibri"/>
              </a:rPr>
              <a:t>Different LLM models have different strengths in speed, cost, and coding ability.</a:t>
            </a:r>
          </a:p>
          <a:p>
            <a:pPr>
              <a:lnSpc>
                <a:spcPct val="118000"/>
              </a:lnSpc>
              <a:spcAft>
                <a:spcPts val="1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•  </a:t>
            </a:r>
            <a:r>
              <a:rPr sz="2400">
                <a:solidFill>
                  <a:srgbClr val="1A1A1A"/>
                </a:solidFill>
                <a:latin typeface="Calibri"/>
              </a:rPr>
              <a:t>Cascading models can save cost, but sequential testing adds extra delay.</a:t>
            </a:r>
          </a:p>
          <a:p>
            <a:pPr>
              <a:lnSpc>
                <a:spcPct val="118000"/>
              </a:lnSpc>
              <a:spcAft>
                <a:spcPts val="1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•  </a:t>
            </a:r>
            <a:r>
              <a:rPr sz="2400">
                <a:solidFill>
                  <a:srgbClr val="1A1A1A"/>
                </a:solidFill>
                <a:latin typeface="Calibri"/>
              </a:rPr>
              <a:t>Accurate task classification and context awareness are important for effective routing.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lliance_logo_cl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0" y="292608"/>
            <a:ext cx="3154680" cy="5943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365760"/>
            <a:ext cx="77724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1A1A1A"/>
                </a:solidFill>
                <a:latin typeface="Times New Roman"/>
              </a:defRPr>
            </a:pPr>
            <a:r>
              <a:t>Limitations from the Literature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46520"/>
            <a:ext cx="73152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595959"/>
                </a:solidFill>
                <a:latin typeface="Calibri"/>
              </a:defRPr>
            </a:pPr>
            <a: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69848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  <a:spcAft>
                <a:spcPts val="1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•  </a:t>
            </a:r>
            <a:r>
              <a:rPr sz="2400">
                <a:solidFill>
                  <a:srgbClr val="1A1A1A"/>
                </a:solidFill>
                <a:latin typeface="Calibri"/>
              </a:rPr>
              <a:t>Routers only classify queries and always call an external model for the answer.</a:t>
            </a:r>
          </a:p>
          <a:p>
            <a:pPr>
              <a:lnSpc>
                <a:spcPct val="118000"/>
              </a:lnSpc>
              <a:spcAft>
                <a:spcPts val="1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•  </a:t>
            </a:r>
            <a:r>
              <a:rPr sz="2400">
                <a:solidFill>
                  <a:srgbClr val="1A1A1A"/>
                </a:solidFill>
                <a:latin typeface="Calibri"/>
              </a:rPr>
              <a:t>Most existing routers only support binary switching between two models.</a:t>
            </a:r>
          </a:p>
          <a:p>
            <a:pPr>
              <a:lnSpc>
                <a:spcPct val="118000"/>
              </a:lnSpc>
              <a:spcAft>
                <a:spcPts val="1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•  </a:t>
            </a:r>
            <a:r>
              <a:rPr sz="2400">
                <a:solidFill>
                  <a:srgbClr val="1A1A1A"/>
                </a:solidFill>
                <a:latin typeface="Calibri"/>
              </a:rPr>
              <a:t>Long chat history is often forwarded without trimming, increasing token cost.</a:t>
            </a:r>
          </a:p>
          <a:p>
            <a:pPr>
              <a:lnSpc>
                <a:spcPct val="118000"/>
              </a:lnSpc>
              <a:spcAft>
                <a:spcPts val="1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•  </a:t>
            </a:r>
            <a:r>
              <a:rPr sz="2400">
                <a:solidFill>
                  <a:srgbClr val="1A1A1A"/>
                </a:solidFill>
                <a:latin typeface="Calibri"/>
              </a:rPr>
              <a:t>Cloud provider rate limits and network errors are not handled automatically.</a:t>
            </a:r>
          </a:p>
          <a:p>
            <a:pPr>
              <a:lnSpc>
                <a:spcPct val="118000"/>
              </a:lnSpc>
              <a:spcAft>
                <a:spcPts val="1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•  </a:t>
            </a:r>
            <a:r>
              <a:rPr sz="2400">
                <a:solidFill>
                  <a:srgbClr val="1A1A1A"/>
                </a:solidFill>
                <a:latin typeface="Calibri"/>
              </a:rPr>
              <a:t>More real-world testing with live provider telemetry is needed.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lliance_logo_cl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0" y="292608"/>
            <a:ext cx="3154680" cy="5943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365760"/>
            <a:ext cx="77724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1A1A1A"/>
                </a:solidFill>
                <a:latin typeface="Times New Roman"/>
              </a:defRPr>
            </a:pPr>
            <a:r>
              <a:t>Problem Statement / Scope of the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46520"/>
            <a:ext cx="73152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595959"/>
                </a:solidFill>
                <a:latin typeface="Calibri"/>
              </a:defRPr>
            </a:pPr>
            <a: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  <a:spcAft>
                <a:spcPts val="1300"/>
              </a:spcAft>
            </a:pPr>
            <a:r>
              <a:rPr sz="2300">
                <a:solidFill>
                  <a:srgbClr val="1A1A1A"/>
                </a:solidFill>
                <a:latin typeface="Arial"/>
              </a:rPr>
              <a:t>•  </a:t>
            </a:r>
            <a:r>
              <a:rPr sz="2300">
                <a:solidFill>
                  <a:srgbClr val="1A1A1A"/>
                </a:solidFill>
                <a:latin typeface="Calibri"/>
              </a:rPr>
              <a:t>Increasing use of LLMs is causing high API inference costs.</a:t>
            </a:r>
          </a:p>
          <a:p>
            <a:pPr>
              <a:lnSpc>
                <a:spcPct val="118000"/>
              </a:lnSpc>
              <a:spcAft>
                <a:spcPts val="1300"/>
              </a:spcAft>
            </a:pPr>
            <a:r>
              <a:rPr sz="2300">
                <a:solidFill>
                  <a:srgbClr val="1A1A1A"/>
                </a:solidFill>
                <a:latin typeface="Arial"/>
              </a:rPr>
              <a:t>•  </a:t>
            </a:r>
            <a:r>
              <a:rPr sz="2300">
                <a:solidFill>
                  <a:srgbClr val="1A1A1A"/>
                </a:solidFill>
                <a:latin typeface="Calibri"/>
              </a:rPr>
              <a:t>Running small models on complex coding tasks reduces answer quality.</a:t>
            </a:r>
          </a:p>
          <a:p>
            <a:pPr>
              <a:lnSpc>
                <a:spcPct val="118000"/>
              </a:lnSpc>
              <a:spcAft>
                <a:spcPts val="1300"/>
              </a:spcAft>
            </a:pPr>
            <a:r>
              <a:rPr sz="2300">
                <a:solidFill>
                  <a:srgbClr val="1A1A1A"/>
                </a:solidFill>
                <a:latin typeface="Arial"/>
              </a:rPr>
              <a:t>•  </a:t>
            </a:r>
            <a:r>
              <a:rPr sz="2300">
                <a:solidFill>
                  <a:srgbClr val="1A1A1A"/>
                </a:solidFill>
                <a:latin typeface="Calibri"/>
              </a:rPr>
              <a:t>Existing systems mainly send all queries to a single fixed model.</a:t>
            </a:r>
          </a:p>
          <a:p>
            <a:pPr>
              <a:lnSpc>
                <a:spcPct val="118000"/>
              </a:lnSpc>
              <a:spcAft>
                <a:spcPts val="1300"/>
              </a:spcAft>
            </a:pPr>
            <a:r>
              <a:rPr sz="2300">
                <a:solidFill>
                  <a:srgbClr val="1A1A1A"/>
                </a:solidFill>
                <a:latin typeface="Arial"/>
              </a:rPr>
              <a:t>•  </a:t>
            </a:r>
            <a:r>
              <a:rPr sz="2300">
                <a:solidFill>
                  <a:srgbClr val="1A1A1A"/>
                </a:solidFill>
                <a:latin typeface="Calibri"/>
              </a:rPr>
              <a:t>There is a need to route queries dynamically based on their complexity.</a:t>
            </a:r>
          </a:p>
          <a:p>
            <a:pPr>
              <a:lnSpc>
                <a:spcPct val="118000"/>
              </a:lnSpc>
              <a:spcAft>
                <a:spcPts val="1300"/>
              </a:spcAft>
            </a:pPr>
            <a:r>
              <a:rPr sz="2300">
                <a:solidFill>
                  <a:srgbClr val="1A1A1A"/>
                </a:solidFill>
                <a:latin typeface="Arial"/>
              </a:rPr>
              <a:t>•  </a:t>
            </a:r>
            <a:r>
              <a:rPr sz="2300">
                <a:solidFill>
                  <a:srgbClr val="1A1A1A"/>
                </a:solidFill>
                <a:latin typeface="Calibri"/>
              </a:rPr>
              <a:t>Our system uses an Analyzer LLM to evaluate query difficulty in real time.</a:t>
            </a:r>
          </a:p>
          <a:p>
            <a:pPr>
              <a:lnSpc>
                <a:spcPct val="118000"/>
              </a:lnSpc>
              <a:spcAft>
                <a:spcPts val="1300"/>
              </a:spcAft>
            </a:pPr>
            <a:r>
              <a:rPr sz="2300">
                <a:solidFill>
                  <a:srgbClr val="1A1A1A"/>
                </a:solidFill>
                <a:latin typeface="Arial"/>
              </a:rPr>
              <a:t>•  </a:t>
            </a:r>
            <a:r>
              <a:rPr sz="2300">
                <a:solidFill>
                  <a:srgbClr val="1A1A1A"/>
                </a:solidFill>
                <a:latin typeface="Calibri"/>
              </a:rPr>
              <a:t>It directly answers simple queries to save tokens and time.</a:t>
            </a:r>
          </a:p>
          <a:p>
            <a:pPr>
              <a:lnSpc>
                <a:spcPct val="118000"/>
              </a:lnSpc>
              <a:spcAft>
                <a:spcPts val="1300"/>
              </a:spcAft>
            </a:pPr>
            <a:r>
              <a:rPr sz="2300">
                <a:solidFill>
                  <a:srgbClr val="1A1A1A"/>
                </a:solidFill>
                <a:latin typeface="Arial"/>
              </a:rPr>
              <a:t>•  </a:t>
            </a:r>
            <a:r>
              <a:rPr sz="2300">
                <a:solidFill>
                  <a:srgbClr val="1A1A1A"/>
                </a:solidFill>
                <a:latin typeface="Calibri"/>
              </a:rPr>
              <a:t>Complex queries are routed to specialized models like coding or reasoning tiers.</a:t>
            </a:r>
          </a:p>
          <a:p>
            <a:pPr>
              <a:lnSpc>
                <a:spcPct val="118000"/>
              </a:lnSpc>
              <a:spcAft>
                <a:spcPts val="1300"/>
              </a:spcAft>
            </a:pPr>
            <a:r>
              <a:rPr sz="2300">
                <a:solidFill>
                  <a:srgbClr val="1A1A1A"/>
                </a:solidFill>
                <a:latin typeface="Arial"/>
              </a:rPr>
              <a:t>•  </a:t>
            </a:r>
            <a:r>
              <a:rPr sz="2300">
                <a:solidFill>
                  <a:srgbClr val="1A1A1A"/>
                </a:solidFill>
                <a:latin typeface="Calibri"/>
              </a:rPr>
              <a:t>The system tracks real token usage, latency, and cost savings on a live dashboard.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lliance_logo_cl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0" y="292608"/>
            <a:ext cx="3154680" cy="5943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365760"/>
            <a:ext cx="77724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1A1A1A"/>
                </a:solidFill>
                <a:latin typeface="Times New Roman"/>
              </a:defRPr>
            </a:pPr>
            <a:r>
              <a:t>Proposed Idea /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46520"/>
            <a:ext cx="73152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595959"/>
                </a:solidFill>
                <a:latin typeface="Calibri"/>
              </a:defRPr>
            </a:pPr>
            <a: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  <a:spcAft>
                <a:spcPts val="900"/>
              </a:spcAft>
            </a:pPr>
            <a:r>
              <a:rPr sz="2100">
                <a:solidFill>
                  <a:srgbClr val="1A1A1A"/>
                </a:solidFill>
                <a:latin typeface="Arial"/>
              </a:rPr>
              <a:t>•  </a:t>
            </a:r>
            <a:r>
              <a:rPr sz="2100" b="1">
                <a:solidFill>
                  <a:srgbClr val="1A1A1A"/>
                </a:solidFill>
                <a:latin typeface="Calibri"/>
              </a:rPr>
              <a:t>AI-Based Query Analysis – </a:t>
            </a:r>
            <a:r>
              <a:rPr sz="2100">
                <a:solidFill>
                  <a:srgbClr val="1A1A1A"/>
                </a:solidFill>
                <a:latin typeface="Calibri"/>
              </a:rPr>
              <a:t>Use a lightweight Analyzer LLM to evaluate query difficulty and context.</a:t>
            </a:r>
          </a:p>
          <a:p>
            <a:pPr>
              <a:lnSpc>
                <a:spcPct val="118000"/>
              </a:lnSpc>
              <a:spcAft>
                <a:spcPts val="900"/>
              </a:spcAft>
            </a:pPr>
            <a:r>
              <a:rPr sz="2100">
                <a:solidFill>
                  <a:srgbClr val="1A1A1A"/>
                </a:solidFill>
                <a:latin typeface="Arial"/>
              </a:rPr>
              <a:t>•  </a:t>
            </a:r>
            <a:r>
              <a:rPr sz="2100" b="1">
                <a:solidFill>
                  <a:srgbClr val="1A1A1A"/>
                </a:solidFill>
                <a:latin typeface="Calibri"/>
              </a:rPr>
              <a:t>Self-Mode Answering – </a:t>
            </a:r>
            <a:r>
              <a:rPr sz="2100">
                <a:solidFill>
                  <a:srgbClr val="1A1A1A"/>
                </a:solidFill>
                <a:latin typeface="Calibri"/>
              </a:rPr>
              <a:t>Directly answer simple questions like greetings or facts in one step.</a:t>
            </a:r>
          </a:p>
          <a:p>
            <a:pPr>
              <a:lnSpc>
                <a:spcPct val="118000"/>
              </a:lnSpc>
              <a:spcAft>
                <a:spcPts val="900"/>
              </a:spcAft>
            </a:pPr>
            <a:r>
              <a:rPr sz="2100">
                <a:solidFill>
                  <a:srgbClr val="1A1A1A"/>
                </a:solidFill>
                <a:latin typeface="Arial"/>
              </a:rPr>
              <a:t>•  </a:t>
            </a:r>
            <a:r>
              <a:rPr sz="2100" b="1">
                <a:solidFill>
                  <a:srgbClr val="1A1A1A"/>
                </a:solidFill>
                <a:latin typeface="Calibri"/>
              </a:rPr>
              <a:t>Smart Model Switching – </a:t>
            </a:r>
            <a:r>
              <a:rPr sz="2100">
                <a:solidFill>
                  <a:srgbClr val="1A1A1A"/>
                </a:solidFill>
                <a:latin typeface="Calibri"/>
              </a:rPr>
              <a:t>Route complex coding and math questions to specialized models.</a:t>
            </a:r>
          </a:p>
          <a:p>
            <a:pPr>
              <a:lnSpc>
                <a:spcPct val="118000"/>
              </a:lnSpc>
              <a:spcAft>
                <a:spcPts val="900"/>
              </a:spcAft>
            </a:pPr>
            <a:r>
              <a:rPr sz="2100">
                <a:solidFill>
                  <a:srgbClr val="1A1A1A"/>
                </a:solidFill>
                <a:latin typeface="Arial"/>
              </a:rPr>
              <a:t>•  </a:t>
            </a:r>
            <a:r>
              <a:rPr sz="2100" b="1">
                <a:solidFill>
                  <a:srgbClr val="1A1A1A"/>
                </a:solidFill>
                <a:latin typeface="Calibri"/>
              </a:rPr>
              <a:t>Multi-Factor Scoring – </a:t>
            </a:r>
            <a:r>
              <a:rPr sz="2100">
                <a:solidFill>
                  <a:srgbClr val="1A1A1A"/>
                </a:solidFill>
                <a:latin typeface="Calibri"/>
              </a:rPr>
              <a:t>Rank models based on quality, speed, cost, and task suitability.</a:t>
            </a:r>
          </a:p>
          <a:p>
            <a:pPr>
              <a:lnSpc>
                <a:spcPct val="118000"/>
              </a:lnSpc>
              <a:spcAft>
                <a:spcPts val="900"/>
              </a:spcAft>
            </a:pPr>
            <a:r>
              <a:rPr sz="2100">
                <a:solidFill>
                  <a:srgbClr val="1A1A1A"/>
                </a:solidFill>
                <a:latin typeface="Arial"/>
              </a:rPr>
              <a:t>•  </a:t>
            </a:r>
            <a:r>
              <a:rPr sz="2100" b="1">
                <a:solidFill>
                  <a:srgbClr val="1A1A1A"/>
                </a:solidFill>
                <a:latin typeface="Calibri"/>
              </a:rPr>
              <a:t>Provider Circuit Breaker – </a:t>
            </a:r>
            <a:r>
              <a:rPr sz="2100">
                <a:solidFill>
                  <a:srgbClr val="1A1A1A"/>
                </a:solidFill>
                <a:latin typeface="Calibri"/>
              </a:rPr>
              <a:t>Pause failing endpoints to prevent request timeouts and errors.</a:t>
            </a:r>
          </a:p>
          <a:p>
            <a:pPr>
              <a:lnSpc>
                <a:spcPct val="118000"/>
              </a:lnSpc>
              <a:spcAft>
                <a:spcPts val="900"/>
              </a:spcAft>
            </a:pPr>
            <a:r>
              <a:rPr sz="2100">
                <a:solidFill>
                  <a:srgbClr val="1A1A1A"/>
                </a:solidFill>
                <a:latin typeface="Arial"/>
              </a:rPr>
              <a:t>•  </a:t>
            </a:r>
            <a:r>
              <a:rPr sz="2100" b="1">
                <a:solidFill>
                  <a:srgbClr val="1A1A1A"/>
                </a:solidFill>
                <a:latin typeface="Calibri"/>
              </a:rPr>
              <a:t>Fallback Chain – </a:t>
            </a:r>
            <a:r>
              <a:rPr sz="2100">
                <a:solidFill>
                  <a:srgbClr val="1A1A1A"/>
                </a:solidFill>
                <a:latin typeface="Calibri"/>
              </a:rPr>
              <a:t>Automatically cascade to the next best model if a provider fails.</a:t>
            </a:r>
          </a:p>
          <a:p>
            <a:pPr>
              <a:lnSpc>
                <a:spcPct val="118000"/>
              </a:lnSpc>
              <a:spcAft>
                <a:spcPts val="900"/>
              </a:spcAft>
            </a:pPr>
            <a:r>
              <a:rPr sz="2100">
                <a:solidFill>
                  <a:srgbClr val="1A1A1A"/>
                </a:solidFill>
                <a:latin typeface="Arial"/>
              </a:rPr>
              <a:t>•  </a:t>
            </a:r>
            <a:r>
              <a:rPr sz="2100" b="1">
                <a:solidFill>
                  <a:srgbClr val="1A1A1A"/>
                </a:solidFill>
                <a:latin typeface="Calibri"/>
              </a:rPr>
              <a:t>Live Dashboard – </a:t>
            </a:r>
            <a:r>
              <a:rPr sz="2100">
                <a:solidFill>
                  <a:srgbClr val="1A1A1A"/>
                </a:solidFill>
                <a:latin typeface="Calibri"/>
              </a:rPr>
              <a:t>Display expected costs, real token counts, latency, and savings.</a:t>
            </a:r>
          </a:p>
          <a:p>
            <a:pPr>
              <a:lnSpc>
                <a:spcPct val="118000"/>
              </a:lnSpc>
              <a:spcAft>
                <a:spcPts val="900"/>
              </a:spcAft>
            </a:pPr>
            <a:r>
              <a:rPr sz="2100">
                <a:solidFill>
                  <a:srgbClr val="1A1A1A"/>
                </a:solidFill>
                <a:latin typeface="Arial"/>
              </a:rPr>
              <a:t>•  </a:t>
            </a:r>
            <a:r>
              <a:rPr sz="2100" b="1">
                <a:solidFill>
                  <a:srgbClr val="1A1A1A"/>
                </a:solidFill>
                <a:latin typeface="Calibri"/>
              </a:rPr>
              <a:t>Main Advantage – </a:t>
            </a:r>
            <a:r>
              <a:rPr sz="2100">
                <a:solidFill>
                  <a:srgbClr val="1A1A1A"/>
                </a:solidFill>
                <a:latin typeface="Calibri"/>
              </a:rPr>
              <a:t>The system does not just call one model; it selects the best fit for every request.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lliance_logo_cl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0" y="292608"/>
            <a:ext cx="3154680" cy="5943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365760"/>
            <a:ext cx="77724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1A1A1A"/>
                </a:solidFill>
                <a:latin typeface="Times New Roman"/>
              </a:defRPr>
            </a:pPr>
            <a:r>
              <a:t>Objectives of the Idea / Solution as Design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46520"/>
            <a:ext cx="73152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595959"/>
                </a:solidFill>
                <a:latin typeface="Calibri"/>
              </a:defRPr>
            </a:pPr>
            <a: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5029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  <a:spcAft>
                <a:spcPts val="700"/>
              </a:spcAft>
            </a:pPr>
            <a:r>
              <a:rPr sz="2000">
                <a:solidFill>
                  <a:srgbClr val="1A1A1A"/>
                </a:solidFill>
                <a:latin typeface="Arial"/>
              </a:rPr>
              <a:t>•  </a:t>
            </a:r>
            <a:r>
              <a:rPr sz="2000">
                <a:solidFill>
                  <a:srgbClr val="1A1A1A"/>
                </a:solidFill>
                <a:latin typeface="Calibri"/>
              </a:rPr>
              <a:t>To monitor and analyze incoming user queries and conversation context.</a:t>
            </a:r>
          </a:p>
          <a:p>
            <a:pPr>
              <a:lnSpc>
                <a:spcPct val="118000"/>
              </a:lnSpc>
              <a:spcAft>
                <a:spcPts val="700"/>
              </a:spcAft>
            </a:pPr>
            <a:r>
              <a:rPr sz="2000">
                <a:solidFill>
                  <a:srgbClr val="1A1A1A"/>
                </a:solidFill>
                <a:latin typeface="Arial"/>
              </a:rPr>
              <a:t>•  </a:t>
            </a:r>
            <a:r>
              <a:rPr sz="2000">
                <a:solidFill>
                  <a:srgbClr val="1A1A1A"/>
                </a:solidFill>
                <a:latin typeface="Calibri"/>
              </a:rPr>
              <a:t>To evaluate query complexity and determine the required capability tier.</a:t>
            </a:r>
          </a:p>
          <a:p>
            <a:pPr>
              <a:lnSpc>
                <a:spcPct val="118000"/>
              </a:lnSpc>
              <a:spcAft>
                <a:spcPts val="700"/>
              </a:spcAft>
            </a:pPr>
            <a:r>
              <a:rPr sz="2000">
                <a:solidFill>
                  <a:srgbClr val="1A1A1A"/>
                </a:solidFill>
                <a:latin typeface="Arial"/>
              </a:rPr>
              <a:t>•  </a:t>
            </a:r>
            <a:r>
              <a:rPr sz="2000">
                <a:solidFill>
                  <a:srgbClr val="1A1A1A"/>
                </a:solidFill>
                <a:latin typeface="Calibri"/>
              </a:rPr>
              <a:t>To answer simple queries directly in one call to minimize token expenditure.</a:t>
            </a:r>
          </a:p>
          <a:p>
            <a:pPr>
              <a:lnSpc>
                <a:spcPct val="118000"/>
              </a:lnSpc>
              <a:spcAft>
                <a:spcPts val="700"/>
              </a:spcAft>
            </a:pPr>
            <a:r>
              <a:rPr sz="2000">
                <a:solidFill>
                  <a:srgbClr val="1A1A1A"/>
                </a:solidFill>
                <a:latin typeface="Arial"/>
              </a:rPr>
              <a:t>•  </a:t>
            </a:r>
            <a:r>
              <a:rPr sz="2000">
                <a:solidFill>
                  <a:srgbClr val="1A1A1A"/>
                </a:solidFill>
                <a:latin typeface="Calibri"/>
              </a:rPr>
              <a:t>To switch complex coding and reasoning queries to capable specialized models.</a:t>
            </a:r>
          </a:p>
          <a:p>
            <a:pPr>
              <a:lnSpc>
                <a:spcPct val="118000"/>
              </a:lnSpc>
              <a:spcAft>
                <a:spcPts val="700"/>
              </a:spcAft>
            </a:pPr>
            <a:r>
              <a:rPr sz="2000">
                <a:solidFill>
                  <a:srgbClr val="1A1A1A"/>
                </a:solidFill>
                <a:latin typeface="Arial"/>
              </a:rPr>
              <a:t>•  </a:t>
            </a:r>
            <a:r>
              <a:rPr sz="2000">
                <a:solidFill>
                  <a:srgbClr val="1A1A1A"/>
                </a:solidFill>
                <a:latin typeface="Calibri"/>
              </a:rPr>
              <a:t>To classify queries into Low, Medium, and High complexity levels.</a:t>
            </a:r>
          </a:p>
          <a:p>
            <a:pPr>
              <a:lnSpc>
                <a:spcPct val="118000"/>
              </a:lnSpc>
              <a:spcAft>
                <a:spcPts val="700"/>
              </a:spcAft>
            </a:pPr>
            <a:r>
              <a:rPr sz="2000">
                <a:solidFill>
                  <a:srgbClr val="1A1A1A"/>
                </a:solidFill>
                <a:latin typeface="Arial"/>
              </a:rPr>
              <a:t>•  </a:t>
            </a:r>
            <a:r>
              <a:rPr sz="2000">
                <a:solidFill>
                  <a:srgbClr val="1A1A1A"/>
                </a:solidFill>
                <a:latin typeface="Calibri"/>
              </a:rPr>
              <a:t>To implement a multi-factor scoring engine across different routing strategies.</a:t>
            </a:r>
          </a:p>
          <a:p>
            <a:pPr>
              <a:lnSpc>
                <a:spcPct val="118000"/>
              </a:lnSpc>
              <a:spcAft>
                <a:spcPts val="700"/>
              </a:spcAft>
            </a:pPr>
            <a:r>
              <a:rPr sz="2000">
                <a:solidFill>
                  <a:srgbClr val="1A1A1A"/>
                </a:solidFill>
                <a:latin typeface="Arial"/>
              </a:rPr>
              <a:t>•  </a:t>
            </a:r>
            <a:r>
              <a:rPr sz="2000">
                <a:solidFill>
                  <a:srgbClr val="1A1A1A"/>
                </a:solidFill>
                <a:latin typeface="Calibri"/>
              </a:rPr>
              <a:t>To provide automated fallback and circuit breaking during provider downtime.</a:t>
            </a:r>
          </a:p>
          <a:p>
            <a:pPr>
              <a:lnSpc>
                <a:spcPct val="118000"/>
              </a:lnSpc>
              <a:spcAft>
                <a:spcPts val="700"/>
              </a:spcAft>
            </a:pPr>
            <a:r>
              <a:rPr sz="2000">
                <a:solidFill>
                  <a:srgbClr val="1A1A1A"/>
                </a:solidFill>
                <a:latin typeface="Arial"/>
              </a:rPr>
              <a:t>•  </a:t>
            </a:r>
            <a:r>
              <a:rPr sz="2000">
                <a:solidFill>
                  <a:srgbClr val="1A1A1A"/>
                </a:solidFill>
                <a:latin typeface="Calibri"/>
              </a:rPr>
              <a:t>To track real provider token usage, latency, and costs without estimation.</a:t>
            </a:r>
          </a:p>
          <a:p>
            <a:pPr>
              <a:lnSpc>
                <a:spcPct val="118000"/>
              </a:lnSpc>
              <a:spcAft>
                <a:spcPts val="700"/>
              </a:spcAft>
            </a:pPr>
            <a:r>
              <a:rPr sz="2000">
                <a:solidFill>
                  <a:srgbClr val="1A1A1A"/>
                </a:solidFill>
                <a:latin typeface="Arial"/>
              </a:rPr>
              <a:t>•  </a:t>
            </a:r>
            <a:r>
              <a:rPr sz="2000">
                <a:solidFill>
                  <a:srgbClr val="1A1A1A"/>
                </a:solidFill>
                <a:latin typeface="Calibri"/>
              </a:rPr>
              <a:t>To display system performance and cost savings through an interactive dashboard.</a:t>
            </a:r>
          </a:p>
          <a:p>
            <a:pPr>
              <a:lnSpc>
                <a:spcPct val="118000"/>
              </a:lnSpc>
              <a:spcAft>
                <a:spcPts val="700"/>
              </a:spcAft>
            </a:pPr>
            <a:r>
              <a:rPr sz="2000">
                <a:solidFill>
                  <a:srgbClr val="1A1A1A"/>
                </a:solidFill>
                <a:latin typeface="Arial"/>
              </a:rPr>
              <a:t>•  </a:t>
            </a:r>
            <a:r>
              <a:rPr sz="2000">
                <a:solidFill>
                  <a:srgbClr val="1A1A1A"/>
                </a:solidFill>
                <a:latin typeface="Calibri"/>
              </a:rPr>
              <a:t>To help users and developers reduce LLM serving costs while maintaining accuracy.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lliance_logo_cl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0" y="292608"/>
            <a:ext cx="3154680" cy="5943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365760"/>
            <a:ext cx="77724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1A1A1A"/>
                </a:solidFill>
                <a:latin typeface="Times New Roman"/>
              </a:defRPr>
            </a:pPr>
            <a:r>
              <a:t>Proposed Research / 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46520"/>
            <a:ext cx="73152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595959"/>
                </a:solidFill>
                <a:latin typeface="Calibri"/>
              </a:defRPr>
            </a:pPr>
            <a: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  <a:spcAft>
                <a:spcPts val="1200"/>
              </a:spcAft>
            </a:pPr>
            <a:r>
              <a:rPr sz="2200">
                <a:solidFill>
                  <a:srgbClr val="1A1A1A"/>
                </a:solidFill>
                <a:latin typeface="Arial"/>
              </a:rPr>
              <a:t>•  </a:t>
            </a:r>
            <a:r>
              <a:rPr sz="2200" b="1">
                <a:solidFill>
                  <a:srgbClr val="1A1A1A"/>
                </a:solidFill>
                <a:latin typeface="Calibri"/>
              </a:rPr>
              <a:t>Query Ingestion – </a:t>
            </a:r>
            <a:r>
              <a:rPr sz="2200">
                <a:solidFill>
                  <a:srgbClr val="1A1A1A"/>
                </a:solidFill>
                <a:latin typeface="Calibri"/>
              </a:rPr>
              <a:t>Collect user prompt, chat history, and selected routing strategy.</a:t>
            </a:r>
          </a:p>
          <a:p>
            <a:pPr>
              <a:lnSpc>
                <a:spcPct val="118000"/>
              </a:lnSpc>
              <a:spcAft>
                <a:spcPts val="1200"/>
              </a:spcAft>
            </a:pPr>
            <a:r>
              <a:rPr sz="2200">
                <a:solidFill>
                  <a:srgbClr val="1A1A1A"/>
                </a:solidFill>
                <a:latin typeface="Arial"/>
              </a:rPr>
              <a:t>•  </a:t>
            </a:r>
            <a:r>
              <a:rPr sz="2200" b="1">
                <a:solidFill>
                  <a:srgbClr val="1A1A1A"/>
                </a:solidFill>
                <a:latin typeface="Calibri"/>
              </a:rPr>
              <a:t>Context Trimming – </a:t>
            </a:r>
            <a:r>
              <a:rPr sz="2200">
                <a:solidFill>
                  <a:srgbClr val="1A1A1A"/>
                </a:solidFill>
                <a:latin typeface="Calibri"/>
              </a:rPr>
              <a:t>Check and trim older conversation turns to control prompt tokens.</a:t>
            </a:r>
          </a:p>
          <a:p>
            <a:pPr>
              <a:lnSpc>
                <a:spcPct val="118000"/>
              </a:lnSpc>
              <a:spcAft>
                <a:spcPts val="1200"/>
              </a:spcAft>
            </a:pPr>
            <a:r>
              <a:rPr sz="2200">
                <a:solidFill>
                  <a:srgbClr val="1A1A1A"/>
                </a:solidFill>
                <a:latin typeface="Arial"/>
              </a:rPr>
              <a:t>•  </a:t>
            </a:r>
            <a:r>
              <a:rPr sz="2200" b="1">
                <a:solidFill>
                  <a:srgbClr val="1A1A1A"/>
                </a:solidFill>
                <a:latin typeface="Calibri"/>
              </a:rPr>
              <a:t>Semantic Cache Check – </a:t>
            </a:r>
            <a:r>
              <a:rPr sz="2200">
                <a:solidFill>
                  <a:srgbClr val="1A1A1A"/>
                </a:solidFill>
                <a:latin typeface="Calibri"/>
              </a:rPr>
              <a:t>Use fast hash matching to return quick decisions for repeated asks.</a:t>
            </a:r>
          </a:p>
          <a:p>
            <a:pPr>
              <a:lnSpc>
                <a:spcPct val="118000"/>
              </a:lnSpc>
              <a:spcAft>
                <a:spcPts val="1200"/>
              </a:spcAft>
            </a:pPr>
            <a:r>
              <a:rPr sz="2200">
                <a:solidFill>
                  <a:srgbClr val="1A1A1A"/>
                </a:solidFill>
                <a:latin typeface="Arial"/>
              </a:rPr>
              <a:t>•  </a:t>
            </a:r>
            <a:r>
              <a:rPr sz="2200" b="1">
                <a:solidFill>
                  <a:srgbClr val="1A1A1A"/>
                </a:solidFill>
                <a:latin typeface="Calibri"/>
              </a:rPr>
              <a:t>Analyzer Decision – </a:t>
            </a:r>
            <a:r>
              <a:rPr sz="2200">
                <a:solidFill>
                  <a:srgbClr val="1A1A1A"/>
                </a:solidFill>
                <a:latin typeface="Calibri"/>
              </a:rPr>
              <a:t>Use Analyzer LLM to determine Self-Mode or Switch-Mode.</a:t>
            </a:r>
          </a:p>
          <a:p>
            <a:pPr>
              <a:lnSpc>
                <a:spcPct val="118000"/>
              </a:lnSpc>
              <a:spcAft>
                <a:spcPts val="1200"/>
              </a:spcAft>
            </a:pPr>
            <a:r>
              <a:rPr sz="2200">
                <a:solidFill>
                  <a:srgbClr val="1A1A1A"/>
                </a:solidFill>
                <a:latin typeface="Arial"/>
              </a:rPr>
              <a:t>•  </a:t>
            </a:r>
            <a:r>
              <a:rPr sz="2200" b="1">
                <a:solidFill>
                  <a:srgbClr val="1A1A1A"/>
                </a:solidFill>
                <a:latin typeface="Calibri"/>
              </a:rPr>
              <a:t>Model Scoring &amp; Selection – </a:t>
            </a:r>
            <a:r>
              <a:rPr sz="2200">
                <a:solidFill>
                  <a:srgbClr val="1A1A1A"/>
                </a:solidFill>
                <a:latin typeface="Calibri"/>
              </a:rPr>
              <a:t>Score available models based on quality, latency, and cost.</a:t>
            </a:r>
          </a:p>
          <a:p>
            <a:pPr>
              <a:lnSpc>
                <a:spcPct val="118000"/>
              </a:lnSpc>
              <a:spcAft>
                <a:spcPts val="1200"/>
              </a:spcAft>
            </a:pPr>
            <a:r>
              <a:rPr sz="2200">
                <a:solidFill>
                  <a:srgbClr val="1A1A1A"/>
                </a:solidFill>
                <a:latin typeface="Arial"/>
              </a:rPr>
              <a:t>•  </a:t>
            </a:r>
            <a:r>
              <a:rPr sz="2200" b="1">
                <a:solidFill>
                  <a:srgbClr val="1A1A1A"/>
                </a:solidFill>
                <a:latin typeface="Calibri"/>
              </a:rPr>
              <a:t>Execution &amp; Fallback – </a:t>
            </a:r>
            <a:r>
              <a:rPr sz="2200">
                <a:solidFill>
                  <a:srgbClr val="1A1A1A"/>
                </a:solidFill>
                <a:latin typeface="Calibri"/>
              </a:rPr>
              <a:t>Call the chosen provider model and switch to fallback if it fails.</a:t>
            </a:r>
          </a:p>
          <a:p>
            <a:pPr>
              <a:lnSpc>
                <a:spcPct val="118000"/>
              </a:lnSpc>
              <a:spcAft>
                <a:spcPts val="1200"/>
              </a:spcAft>
            </a:pPr>
            <a:r>
              <a:rPr sz="2200">
                <a:solidFill>
                  <a:srgbClr val="1A1A1A"/>
                </a:solidFill>
                <a:latin typeface="Arial"/>
              </a:rPr>
              <a:t>•  </a:t>
            </a:r>
            <a:r>
              <a:rPr sz="2200" b="1">
                <a:solidFill>
                  <a:srgbClr val="1A1A1A"/>
                </a:solidFill>
                <a:latin typeface="Calibri"/>
              </a:rPr>
              <a:t>Dashboard &amp; Evaluation – </a:t>
            </a:r>
            <a:r>
              <a:rPr sz="2200">
                <a:solidFill>
                  <a:srgbClr val="1A1A1A"/>
                </a:solidFill>
                <a:latin typeface="Calibri"/>
              </a:rPr>
              <a:t>Stream the answer, record exact tokens in SQLite, and show savings.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lliance_logo_cl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0" y="292608"/>
            <a:ext cx="3154680" cy="5943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365760"/>
            <a:ext cx="77724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1A1A1A"/>
                </a:solidFill>
                <a:latin typeface="Times New Roman"/>
              </a:defRPr>
            </a:pPr>
            <a:r>
              <a:t>Hardware Requirements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46520"/>
            <a:ext cx="73152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595959"/>
                </a:solidFill>
                <a:latin typeface="Calibri"/>
              </a:defRPr>
            </a:pPr>
            <a: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69848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  <a:spcAft>
                <a:spcPts val="1600"/>
              </a:spcAft>
            </a:pPr>
            <a:r>
              <a:rPr sz="2300">
                <a:solidFill>
                  <a:srgbClr val="1A1A1A"/>
                </a:solidFill>
                <a:latin typeface="Arial"/>
              </a:rPr>
              <a:t>•  </a:t>
            </a:r>
            <a:r>
              <a:rPr sz="2300" b="1">
                <a:solidFill>
                  <a:srgbClr val="1A1A1A"/>
                </a:solidFill>
                <a:latin typeface="Calibri"/>
              </a:rPr>
              <a:t>Laptop/Computer – </a:t>
            </a:r>
            <a:r>
              <a:rPr sz="2300">
                <a:solidFill>
                  <a:srgbClr val="1A1A1A"/>
                </a:solidFill>
                <a:latin typeface="Calibri"/>
              </a:rPr>
              <a:t>For development and running the FastAPI backend.</a:t>
            </a:r>
          </a:p>
          <a:p>
            <a:pPr>
              <a:lnSpc>
                <a:spcPct val="118000"/>
              </a:lnSpc>
              <a:spcAft>
                <a:spcPts val="1600"/>
              </a:spcAft>
            </a:pPr>
            <a:r>
              <a:rPr sz="2300">
                <a:solidFill>
                  <a:srgbClr val="1A1A1A"/>
                </a:solidFill>
                <a:latin typeface="Arial"/>
              </a:rPr>
              <a:t>•  </a:t>
            </a:r>
            <a:r>
              <a:rPr sz="2300" b="1">
                <a:solidFill>
                  <a:srgbClr val="1A1A1A"/>
                </a:solidFill>
                <a:latin typeface="Calibri"/>
              </a:rPr>
              <a:t>Processor – </a:t>
            </a:r>
            <a:r>
              <a:rPr sz="2300">
                <a:solidFill>
                  <a:srgbClr val="1A1A1A"/>
                </a:solidFill>
                <a:latin typeface="Calibri"/>
              </a:rPr>
              <a:t>Intel Core i5 / AMD Ryzen 5 or equivalent.</a:t>
            </a:r>
          </a:p>
          <a:p>
            <a:pPr>
              <a:lnSpc>
                <a:spcPct val="118000"/>
              </a:lnSpc>
              <a:spcAft>
                <a:spcPts val="1600"/>
              </a:spcAft>
            </a:pPr>
            <a:r>
              <a:rPr sz="2300">
                <a:solidFill>
                  <a:srgbClr val="1A1A1A"/>
                </a:solidFill>
                <a:latin typeface="Arial"/>
              </a:rPr>
              <a:t>•  </a:t>
            </a:r>
            <a:r>
              <a:rPr sz="2300" b="1">
                <a:solidFill>
                  <a:srgbClr val="1A1A1A"/>
                </a:solidFill>
                <a:latin typeface="Calibri"/>
              </a:rPr>
              <a:t>RAM – </a:t>
            </a:r>
            <a:r>
              <a:rPr sz="2300">
                <a:solidFill>
                  <a:srgbClr val="1A1A1A"/>
                </a:solidFill>
                <a:latin typeface="Calibri"/>
              </a:rPr>
              <a:t>8 GB or more.</a:t>
            </a:r>
          </a:p>
          <a:p>
            <a:pPr>
              <a:lnSpc>
                <a:spcPct val="118000"/>
              </a:lnSpc>
              <a:spcAft>
                <a:spcPts val="1600"/>
              </a:spcAft>
            </a:pPr>
            <a:r>
              <a:rPr sz="2300">
                <a:solidFill>
                  <a:srgbClr val="1A1A1A"/>
                </a:solidFill>
                <a:latin typeface="Arial"/>
              </a:rPr>
              <a:t>•  </a:t>
            </a:r>
            <a:r>
              <a:rPr sz="2300" b="1">
                <a:solidFill>
                  <a:srgbClr val="1A1A1A"/>
                </a:solidFill>
                <a:latin typeface="Calibri"/>
              </a:rPr>
              <a:t>Storage – </a:t>
            </a:r>
            <a:r>
              <a:rPr sz="2300">
                <a:solidFill>
                  <a:srgbClr val="1A1A1A"/>
                </a:solidFill>
                <a:latin typeface="Calibri"/>
              </a:rPr>
              <a:t>20 GB free disk space for SQLite database and logs.</a:t>
            </a:r>
          </a:p>
          <a:p>
            <a:pPr>
              <a:lnSpc>
                <a:spcPct val="118000"/>
              </a:lnSpc>
              <a:spcAft>
                <a:spcPts val="1600"/>
              </a:spcAft>
            </a:pPr>
            <a:r>
              <a:rPr sz="2300">
                <a:solidFill>
                  <a:srgbClr val="1A1A1A"/>
                </a:solidFill>
                <a:latin typeface="Arial"/>
              </a:rPr>
              <a:t>•  </a:t>
            </a:r>
            <a:r>
              <a:rPr sz="2300" b="1">
                <a:solidFill>
                  <a:srgbClr val="1A1A1A"/>
                </a:solidFill>
                <a:latin typeface="Calibri"/>
              </a:rPr>
              <a:t>Internet Connection – </a:t>
            </a:r>
            <a:r>
              <a:rPr sz="2300">
                <a:solidFill>
                  <a:srgbClr val="1A1A1A"/>
                </a:solidFill>
                <a:latin typeface="Calibri"/>
              </a:rPr>
              <a:t>Stable broadband for cloud LLM API access.</a:t>
            </a:r>
          </a:p>
          <a:p>
            <a:pPr>
              <a:lnSpc>
                <a:spcPct val="118000"/>
              </a:lnSpc>
              <a:spcAft>
                <a:spcPts val="1600"/>
              </a:spcAft>
            </a:pPr>
            <a:r>
              <a:rPr sz="2300">
                <a:solidFill>
                  <a:srgbClr val="1A1A1A"/>
                </a:solidFill>
                <a:latin typeface="Arial"/>
              </a:rPr>
              <a:t>•  </a:t>
            </a:r>
            <a:r>
              <a:rPr sz="2300" b="1">
                <a:solidFill>
                  <a:srgbClr val="1A1A1A"/>
                </a:solidFill>
                <a:latin typeface="Calibri"/>
              </a:rPr>
              <a:t>Display Monitor – </a:t>
            </a:r>
            <a:r>
              <a:rPr sz="2300">
                <a:solidFill>
                  <a:srgbClr val="1A1A1A"/>
                </a:solidFill>
                <a:latin typeface="Calibri"/>
              </a:rPr>
              <a:t>Standard Full HD display for viewing the web dashboard.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lliance_logo_cl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0" y="292608"/>
            <a:ext cx="3154680" cy="5943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365760"/>
            <a:ext cx="77724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1A1A1A"/>
                </a:solidFill>
                <a:latin typeface="Times New Roman"/>
              </a:defRPr>
            </a:pPr>
            <a:r>
              <a:t>Software Requirements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46520"/>
            <a:ext cx="73152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595959"/>
                </a:solidFill>
                <a:latin typeface="Calibri"/>
              </a:defRPr>
            </a:pPr>
            <a: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698480" cy="4754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  <a:spcAft>
                <a:spcPts val="1400"/>
              </a:spcAft>
            </a:pPr>
            <a:r>
              <a:rPr sz="2300">
                <a:solidFill>
                  <a:srgbClr val="1A1A1A"/>
                </a:solidFill>
                <a:latin typeface="Arial"/>
              </a:rPr>
              <a:t>•  </a:t>
            </a:r>
            <a:r>
              <a:rPr sz="2300" b="1">
                <a:solidFill>
                  <a:srgbClr val="1A1A1A"/>
                </a:solidFill>
                <a:latin typeface="Calibri"/>
              </a:rPr>
              <a:t>Python – </a:t>
            </a:r>
            <a:r>
              <a:rPr sz="2300">
                <a:solidFill>
                  <a:srgbClr val="1A1A1A"/>
                </a:solidFill>
                <a:latin typeface="Calibri"/>
              </a:rPr>
              <a:t>Core backend and routing logic implementation.</a:t>
            </a:r>
          </a:p>
          <a:p>
            <a:pPr>
              <a:lnSpc>
                <a:spcPct val="118000"/>
              </a:lnSpc>
              <a:spcAft>
                <a:spcPts val="1400"/>
              </a:spcAft>
            </a:pPr>
            <a:r>
              <a:rPr sz="2300">
                <a:solidFill>
                  <a:srgbClr val="1A1A1A"/>
                </a:solidFill>
                <a:latin typeface="Arial"/>
              </a:rPr>
              <a:t>•  </a:t>
            </a:r>
            <a:r>
              <a:rPr sz="2300" b="1">
                <a:solidFill>
                  <a:srgbClr val="1A1A1A"/>
                </a:solidFill>
                <a:latin typeface="Calibri"/>
              </a:rPr>
              <a:t>FastAPI &amp; Uvicorn – </a:t>
            </a:r>
            <a:r>
              <a:rPr sz="2300">
                <a:solidFill>
                  <a:srgbClr val="1A1A1A"/>
                </a:solidFill>
                <a:latin typeface="Calibri"/>
              </a:rPr>
              <a:t>API lifecycle, streaming SSE, and web endpoints.</a:t>
            </a:r>
          </a:p>
          <a:p>
            <a:pPr>
              <a:lnSpc>
                <a:spcPct val="118000"/>
              </a:lnSpc>
              <a:spcAft>
                <a:spcPts val="1400"/>
              </a:spcAft>
            </a:pPr>
            <a:r>
              <a:rPr sz="2300">
                <a:solidFill>
                  <a:srgbClr val="1A1A1A"/>
                </a:solidFill>
                <a:latin typeface="Arial"/>
              </a:rPr>
              <a:t>•  </a:t>
            </a:r>
            <a:r>
              <a:rPr sz="2300" b="1">
                <a:solidFill>
                  <a:srgbClr val="1A1A1A"/>
                </a:solidFill>
                <a:latin typeface="Calibri"/>
              </a:rPr>
              <a:t>Pydantic – </a:t>
            </a:r>
            <a:r>
              <a:rPr sz="2300">
                <a:solidFill>
                  <a:srgbClr val="1A1A1A"/>
                </a:solidFill>
                <a:latin typeface="Calibri"/>
              </a:rPr>
              <a:t>Data validation and strict JSON schema handling.</a:t>
            </a:r>
          </a:p>
          <a:p>
            <a:pPr>
              <a:lnSpc>
                <a:spcPct val="118000"/>
              </a:lnSpc>
              <a:spcAft>
                <a:spcPts val="1400"/>
              </a:spcAft>
            </a:pPr>
            <a:r>
              <a:rPr sz="2300">
                <a:solidFill>
                  <a:srgbClr val="1A1A1A"/>
                </a:solidFill>
                <a:latin typeface="Arial"/>
              </a:rPr>
              <a:t>•  </a:t>
            </a:r>
            <a:r>
              <a:rPr sz="2300" b="1">
                <a:solidFill>
                  <a:srgbClr val="1A1A1A"/>
                </a:solidFill>
                <a:latin typeface="Calibri"/>
              </a:rPr>
              <a:t>SQLite3 – </a:t>
            </a:r>
            <a:r>
              <a:rPr sz="2300">
                <a:solidFill>
                  <a:srgbClr val="1A1A1A"/>
                </a:solidFill>
                <a:latin typeface="Calibri"/>
              </a:rPr>
              <a:t>Local database for metrics, request history, and feedback.</a:t>
            </a:r>
          </a:p>
          <a:p>
            <a:pPr>
              <a:lnSpc>
                <a:spcPct val="118000"/>
              </a:lnSpc>
              <a:spcAft>
                <a:spcPts val="1400"/>
              </a:spcAft>
            </a:pPr>
            <a:r>
              <a:rPr sz="2300">
                <a:solidFill>
                  <a:srgbClr val="1A1A1A"/>
                </a:solidFill>
                <a:latin typeface="Arial"/>
              </a:rPr>
              <a:t>•  </a:t>
            </a:r>
            <a:r>
              <a:rPr sz="2300" b="1">
                <a:solidFill>
                  <a:srgbClr val="1A1A1A"/>
                </a:solidFill>
                <a:latin typeface="Calibri"/>
              </a:rPr>
              <a:t>HTTPX &amp; Requests – </a:t>
            </a:r>
            <a:r>
              <a:rPr sz="2300">
                <a:solidFill>
                  <a:srgbClr val="1A1A1A"/>
                </a:solidFill>
                <a:latin typeface="Calibri"/>
              </a:rPr>
              <a:t>Async communication with multi-provider LLM APIs.</a:t>
            </a:r>
          </a:p>
          <a:p>
            <a:pPr>
              <a:lnSpc>
                <a:spcPct val="118000"/>
              </a:lnSpc>
              <a:spcAft>
                <a:spcPts val="1400"/>
              </a:spcAft>
            </a:pPr>
            <a:r>
              <a:rPr sz="2300">
                <a:solidFill>
                  <a:srgbClr val="1A1A1A"/>
                </a:solidFill>
                <a:latin typeface="Arial"/>
              </a:rPr>
              <a:t>•  </a:t>
            </a:r>
            <a:r>
              <a:rPr sz="2300" b="1">
                <a:solidFill>
                  <a:srgbClr val="1A1A1A"/>
                </a:solidFill>
                <a:latin typeface="Calibri"/>
              </a:rPr>
              <a:t>HTML, CSS &amp; JavaScript – </a:t>
            </a:r>
            <a:r>
              <a:rPr sz="2300">
                <a:solidFill>
                  <a:srgbClr val="1A1A1A"/>
                </a:solidFill>
                <a:latin typeface="Calibri"/>
              </a:rPr>
              <a:t>Modern web interface and live dashboard.</a:t>
            </a:r>
          </a:p>
          <a:p>
            <a:pPr>
              <a:lnSpc>
                <a:spcPct val="118000"/>
              </a:lnSpc>
              <a:spcAft>
                <a:spcPts val="1400"/>
              </a:spcAft>
            </a:pPr>
            <a:r>
              <a:rPr sz="2300">
                <a:solidFill>
                  <a:srgbClr val="1A1A1A"/>
                </a:solidFill>
                <a:latin typeface="Arial"/>
              </a:rPr>
              <a:t>•  </a:t>
            </a:r>
            <a:r>
              <a:rPr sz="2300" b="1">
                <a:solidFill>
                  <a:srgbClr val="1A1A1A"/>
                </a:solidFill>
                <a:latin typeface="Calibri"/>
              </a:rPr>
              <a:t>Web Browser – </a:t>
            </a:r>
            <a:r>
              <a:rPr sz="2300">
                <a:solidFill>
                  <a:srgbClr val="1A1A1A"/>
                </a:solidFill>
                <a:latin typeface="Calibri"/>
              </a:rPr>
              <a:t>Chrome / Edge for running and viewing the application.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lliance_logo_cl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0" y="292608"/>
            <a:ext cx="3154680" cy="5943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365760"/>
            <a:ext cx="77724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1A1A1A"/>
                </a:solidFill>
                <a:latin typeface="Times New Roman"/>
              </a:defRPr>
            </a:pPr>
            <a:r>
              <a:t>Process / Flow / Design Diagram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46520"/>
            <a:ext cx="73152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595959"/>
                </a:solidFill>
                <a:latin typeface="Calibri"/>
              </a:defRPr>
            </a:pPr>
            <a:r>
              <a:t>14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74720" y="1234440"/>
            <a:ext cx="5212080" cy="502920"/>
          </a:xfrm>
          <a:prstGeom prst="roundRect">
            <a:avLst/>
          </a:prstGeom>
          <a:solidFill>
            <a:srgbClr val="BDD7EE"/>
          </a:solidFill>
          <a:ln>
            <a:solidFill>
              <a:srgbClr val="2F65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1A1A1A"/>
                </a:solidFill>
                <a:latin typeface="Times New Roman"/>
              </a:defRPr>
            </a:pPr>
            <a:r>
              <a:t>Overall System Diagram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965960"/>
            <a:ext cx="1408176" cy="3108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965960"/>
            <a:ext cx="1408176" cy="777240"/>
          </a:xfrm>
          <a:prstGeom prst="roundRect">
            <a:avLst/>
          </a:prstGeom>
          <a:solidFill>
            <a:srgbClr val="D9E1F2"/>
          </a:solidFill>
          <a:ln w="12700">
            <a:solidFill>
              <a:srgbClr val="2F65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defRPr sz="1200" b="1">
                <a:solidFill>
                  <a:srgbClr val="1A1A1A"/>
                </a:solidFill>
                <a:latin typeface="Times New Roman"/>
              </a:defRPr>
            </a:pPr>
            <a:r>
              <a:t>User Query</a:t>
            </a:r>
            <a:br/>
            <a:r>
              <a:t>Input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834640"/>
            <a:ext cx="1408176" cy="2103120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1A1A1A"/>
                </a:solidFill>
                <a:latin typeface="Calibri"/>
              </a:defRPr>
            </a:pPr>
            <a:r>
              <a:t>• User prompt</a:t>
            </a:r>
          </a:p>
          <a:p>
            <a:pPr>
              <a:spcAft>
                <a:spcPts val="400"/>
              </a:spcAft>
              <a:defRPr sz="1000">
                <a:solidFill>
                  <a:srgbClr val="1A1A1A"/>
                </a:solidFill>
                <a:latin typeface="Calibri"/>
              </a:defRPr>
            </a:pPr>
            <a:r>
              <a:t>• Chat history</a:t>
            </a:r>
          </a:p>
          <a:p>
            <a:pPr>
              <a:spcAft>
                <a:spcPts val="400"/>
              </a:spcAft>
              <a:defRPr sz="1000">
                <a:solidFill>
                  <a:srgbClr val="1A1A1A"/>
                </a:solidFill>
                <a:latin typeface="Calibri"/>
              </a:defRPr>
            </a:pPr>
            <a:r>
              <a:t>• Strategy mode</a:t>
            </a:r>
          </a:p>
        </p:txBody>
      </p:sp>
      <p:sp>
        <p:nvSpPr>
          <p:cNvPr id="9" name="Right Arrow 8"/>
          <p:cNvSpPr/>
          <p:nvPr/>
        </p:nvSpPr>
        <p:spPr>
          <a:xfrm>
            <a:off x="1975104" y="3337560"/>
            <a:ext cx="128016" cy="164592"/>
          </a:xfrm>
          <a:prstGeom prst="rightArrow">
            <a:avLst/>
          </a:prstGeom>
          <a:solidFill>
            <a:srgbClr val="2F659C"/>
          </a:solidFill>
          <a:ln>
            <a:solidFill>
              <a:srgbClr val="2F65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121408" y="1965960"/>
            <a:ext cx="1408176" cy="3108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121408" y="1965960"/>
            <a:ext cx="1408176" cy="777240"/>
          </a:xfrm>
          <a:prstGeom prst="roundRect">
            <a:avLst/>
          </a:prstGeom>
          <a:solidFill>
            <a:srgbClr val="D9E1F2"/>
          </a:solidFill>
          <a:ln w="12700">
            <a:solidFill>
              <a:srgbClr val="2F65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defRPr sz="1200" b="1">
                <a:solidFill>
                  <a:srgbClr val="1A1A1A"/>
                </a:solidFill>
                <a:latin typeface="Times New Roman"/>
              </a:defRPr>
            </a:pPr>
            <a:r>
              <a:t>Request</a:t>
            </a:r>
            <a:br/>
            <a:r>
              <a:t>Guardrails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21408" y="2834640"/>
            <a:ext cx="1408176" cy="2103120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1A1A1A"/>
                </a:solidFill>
                <a:latin typeface="Calibri"/>
              </a:defRPr>
            </a:pPr>
            <a:r>
              <a:t>• FastAPI gateway</a:t>
            </a:r>
          </a:p>
          <a:p>
            <a:pPr>
              <a:spcAft>
                <a:spcPts val="400"/>
              </a:spcAft>
              <a:defRPr sz="1000">
                <a:solidFill>
                  <a:srgbClr val="1A1A1A"/>
                </a:solidFill>
                <a:latin typeface="Calibri"/>
              </a:defRPr>
            </a:pPr>
            <a:r>
              <a:t>• Token context trim</a:t>
            </a:r>
          </a:p>
          <a:p>
            <a:pPr>
              <a:spcAft>
                <a:spcPts val="400"/>
              </a:spcAft>
              <a:defRPr sz="1000">
                <a:solidFill>
                  <a:srgbClr val="1A1A1A"/>
                </a:solidFill>
                <a:latin typeface="Calibri"/>
              </a:defRPr>
            </a:pPr>
            <a:r>
              <a:t>• Budget caps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3547872" y="3337560"/>
            <a:ext cx="128016" cy="164592"/>
          </a:xfrm>
          <a:prstGeom prst="rightArrow">
            <a:avLst/>
          </a:prstGeom>
          <a:solidFill>
            <a:srgbClr val="2F659C"/>
          </a:solidFill>
          <a:ln>
            <a:solidFill>
              <a:srgbClr val="2F65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694176" y="1965960"/>
            <a:ext cx="1408176" cy="3108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694176" y="1965960"/>
            <a:ext cx="1408176" cy="777240"/>
          </a:xfrm>
          <a:prstGeom prst="roundRect">
            <a:avLst/>
          </a:prstGeom>
          <a:solidFill>
            <a:srgbClr val="D9E1F2"/>
          </a:solidFill>
          <a:ln w="12700">
            <a:solidFill>
              <a:srgbClr val="2F65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defRPr sz="1200" b="1">
                <a:solidFill>
                  <a:srgbClr val="1A1A1A"/>
                </a:solidFill>
                <a:latin typeface="Times New Roman"/>
              </a:defRPr>
            </a:pPr>
            <a:r>
              <a:t>Semantic</a:t>
            </a:r>
            <a:br/>
            <a:r>
              <a:t>Routing Cache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94176" y="2834640"/>
            <a:ext cx="1408176" cy="2103120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1A1A1A"/>
                </a:solidFill>
                <a:latin typeface="Calibri"/>
              </a:defRPr>
            </a:pPr>
            <a:r>
              <a:t>• SHA-1 query digest</a:t>
            </a:r>
          </a:p>
          <a:p>
            <a:pPr>
              <a:spcAft>
                <a:spcPts val="400"/>
              </a:spcAft>
              <a:defRPr sz="1000">
                <a:solidFill>
                  <a:srgbClr val="1A1A1A"/>
                </a:solidFill>
                <a:latin typeface="Calibri"/>
              </a:defRPr>
            </a:pPr>
            <a:r>
              <a:t>• Fast cache hit</a:t>
            </a:r>
          </a:p>
          <a:p>
            <a:pPr>
              <a:spcAft>
                <a:spcPts val="400"/>
              </a:spcAft>
              <a:defRPr sz="1000">
                <a:solidFill>
                  <a:srgbClr val="1A1A1A"/>
                </a:solidFill>
                <a:latin typeface="Calibri"/>
              </a:defRPr>
            </a:pPr>
            <a:r>
              <a:t>• &lt;15ms response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5120640" y="3337560"/>
            <a:ext cx="128016" cy="164592"/>
          </a:xfrm>
          <a:prstGeom prst="rightArrow">
            <a:avLst/>
          </a:prstGeom>
          <a:solidFill>
            <a:srgbClr val="2F659C"/>
          </a:solidFill>
          <a:ln>
            <a:solidFill>
              <a:srgbClr val="2F65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266944" y="1965960"/>
            <a:ext cx="1408176" cy="3108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266944" y="1965960"/>
            <a:ext cx="1408176" cy="777240"/>
          </a:xfrm>
          <a:prstGeom prst="roundRect">
            <a:avLst/>
          </a:prstGeom>
          <a:solidFill>
            <a:srgbClr val="D9E1F2"/>
          </a:solidFill>
          <a:ln w="12700">
            <a:solidFill>
              <a:srgbClr val="2F65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defRPr sz="1200" b="1">
                <a:solidFill>
                  <a:srgbClr val="1A1A1A"/>
                </a:solidFill>
                <a:latin typeface="Times New Roman"/>
              </a:defRPr>
            </a:pPr>
            <a:r>
              <a:t>Dual-Role</a:t>
            </a:r>
            <a:br/>
            <a:r>
              <a:t>Analyzer LLM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66944" y="2834640"/>
            <a:ext cx="1408176" cy="2103120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1A1A1A"/>
                </a:solidFill>
                <a:latin typeface="Calibri"/>
              </a:defRPr>
            </a:pPr>
            <a:r>
              <a:t>• Task complexity</a:t>
            </a:r>
          </a:p>
          <a:p>
            <a:pPr>
              <a:spcAft>
                <a:spcPts val="400"/>
              </a:spcAft>
              <a:defRPr sz="1000">
                <a:solidFill>
                  <a:srgbClr val="1A1A1A"/>
                </a:solidFill>
                <a:latin typeface="Calibri"/>
              </a:defRPr>
            </a:pPr>
            <a:r>
              <a:t>• Self-Mode (1 call)</a:t>
            </a:r>
          </a:p>
          <a:p>
            <a:pPr>
              <a:spcAft>
                <a:spcPts val="400"/>
              </a:spcAft>
              <a:defRPr sz="1000">
                <a:solidFill>
                  <a:srgbClr val="1A1A1A"/>
                </a:solidFill>
                <a:latin typeface="Calibri"/>
              </a:defRPr>
            </a:pPr>
            <a:r>
              <a:t>• Switch-Mode signal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6693408" y="3337560"/>
            <a:ext cx="128016" cy="164592"/>
          </a:xfrm>
          <a:prstGeom prst="rightArrow">
            <a:avLst/>
          </a:prstGeom>
          <a:solidFill>
            <a:srgbClr val="2F659C"/>
          </a:solidFill>
          <a:ln>
            <a:solidFill>
              <a:srgbClr val="2F65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839712" y="1965960"/>
            <a:ext cx="1408176" cy="3108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839712" y="1965960"/>
            <a:ext cx="1408176" cy="777240"/>
          </a:xfrm>
          <a:prstGeom prst="roundRect">
            <a:avLst/>
          </a:prstGeom>
          <a:solidFill>
            <a:srgbClr val="D9E1F2"/>
          </a:solidFill>
          <a:ln w="12700">
            <a:solidFill>
              <a:srgbClr val="2F65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defRPr sz="1200" b="1">
                <a:solidFill>
                  <a:srgbClr val="1A1A1A"/>
                </a:solidFill>
                <a:latin typeface="Times New Roman"/>
              </a:defRPr>
            </a:pPr>
            <a:r>
              <a:t>Smart Routing</a:t>
            </a:r>
            <a:br/>
            <a:r>
              <a:t>(7-Factor)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39712" y="2834640"/>
            <a:ext cx="1408176" cy="2103120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1A1A1A"/>
                </a:solidFill>
                <a:latin typeface="Calibri"/>
              </a:defRPr>
            </a:pPr>
            <a:r>
              <a:t>• Quality &amp; latency</a:t>
            </a:r>
          </a:p>
          <a:p>
            <a:pPr>
              <a:spcAft>
                <a:spcPts val="400"/>
              </a:spcAft>
              <a:defRPr sz="1000">
                <a:solidFill>
                  <a:srgbClr val="1A1A1A"/>
                </a:solidFill>
                <a:latin typeface="Calibri"/>
              </a:defRPr>
            </a:pPr>
            <a:r>
              <a:t>• Cost efficiency</a:t>
            </a:r>
          </a:p>
          <a:p>
            <a:pPr>
              <a:spcAft>
                <a:spcPts val="400"/>
              </a:spcAft>
              <a:defRPr sz="1000">
                <a:solidFill>
                  <a:srgbClr val="1A1A1A"/>
                </a:solidFill>
                <a:latin typeface="Calibri"/>
              </a:defRPr>
            </a:pPr>
            <a:r>
              <a:t>• Coding / reasoning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8266176" y="3337560"/>
            <a:ext cx="128016" cy="164592"/>
          </a:xfrm>
          <a:prstGeom prst="rightArrow">
            <a:avLst/>
          </a:prstGeom>
          <a:solidFill>
            <a:srgbClr val="2F659C"/>
          </a:solidFill>
          <a:ln>
            <a:solidFill>
              <a:srgbClr val="2F65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412480" y="1965960"/>
            <a:ext cx="1408176" cy="3108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412480" y="1965960"/>
            <a:ext cx="1408176" cy="777240"/>
          </a:xfrm>
          <a:prstGeom prst="roundRect">
            <a:avLst/>
          </a:prstGeom>
          <a:solidFill>
            <a:srgbClr val="D9E1F2"/>
          </a:solidFill>
          <a:ln w="12700">
            <a:solidFill>
              <a:srgbClr val="2F65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defRPr sz="1200" b="1">
                <a:solidFill>
                  <a:srgbClr val="1A1A1A"/>
                </a:solidFill>
                <a:latin typeface="Times New Roman"/>
              </a:defRPr>
            </a:pPr>
            <a:r>
              <a:t>Resilient Model</a:t>
            </a:r>
            <a:br/>
            <a:r>
              <a:t>Execution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80" y="2834640"/>
            <a:ext cx="1408176" cy="2103120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1A1A1A"/>
                </a:solidFill>
                <a:latin typeface="Calibri"/>
              </a:defRPr>
            </a:pPr>
            <a:r>
              <a:t>• Gemini / Groq / OpenAI</a:t>
            </a:r>
          </a:p>
          <a:p>
            <a:pPr>
              <a:spcAft>
                <a:spcPts val="400"/>
              </a:spcAft>
              <a:defRPr sz="1000">
                <a:solidFill>
                  <a:srgbClr val="1A1A1A"/>
                </a:solidFill>
                <a:latin typeface="Calibri"/>
              </a:defRPr>
            </a:pPr>
            <a:r>
              <a:t>• Circuit breaker</a:t>
            </a:r>
          </a:p>
          <a:p>
            <a:pPr>
              <a:spcAft>
                <a:spcPts val="400"/>
              </a:spcAft>
              <a:defRPr sz="1000">
                <a:solidFill>
                  <a:srgbClr val="1A1A1A"/>
                </a:solidFill>
                <a:latin typeface="Calibri"/>
              </a:defRPr>
            </a:pPr>
            <a:r>
              <a:t>• Automated fallback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9838944" y="3337560"/>
            <a:ext cx="128016" cy="164592"/>
          </a:xfrm>
          <a:prstGeom prst="rightArrow">
            <a:avLst/>
          </a:prstGeom>
          <a:solidFill>
            <a:srgbClr val="2F659C"/>
          </a:solidFill>
          <a:ln>
            <a:solidFill>
              <a:srgbClr val="2F65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9985248" y="1965960"/>
            <a:ext cx="1408176" cy="3108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9985248" y="1965960"/>
            <a:ext cx="1408176" cy="777240"/>
          </a:xfrm>
          <a:prstGeom prst="roundRect">
            <a:avLst/>
          </a:prstGeom>
          <a:solidFill>
            <a:srgbClr val="D9E1F2"/>
          </a:solidFill>
          <a:ln w="12700">
            <a:solidFill>
              <a:srgbClr val="2F65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defRPr sz="1200" b="1">
                <a:solidFill>
                  <a:srgbClr val="1A1A1A"/>
                </a:solidFill>
                <a:latin typeface="Times New Roman"/>
              </a:defRPr>
            </a:pPr>
            <a:r>
              <a:t>Output</a:t>
            </a:r>
            <a:br/>
            <a:r>
              <a:t>(Dashboard)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985248" y="2834640"/>
            <a:ext cx="1408176" cy="2103120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1A1A1A"/>
                </a:solidFill>
                <a:latin typeface="Calibri"/>
              </a:defRPr>
            </a:pPr>
            <a:r>
              <a:t>• Real-time SSE</a:t>
            </a:r>
          </a:p>
          <a:p>
            <a:pPr>
              <a:spcAft>
                <a:spcPts val="400"/>
              </a:spcAft>
              <a:defRPr sz="1000">
                <a:solidFill>
                  <a:srgbClr val="1A1A1A"/>
                </a:solidFill>
                <a:latin typeface="Calibri"/>
              </a:defRPr>
            </a:pPr>
            <a:r>
              <a:t>• Token &amp; cost audit</a:t>
            </a:r>
          </a:p>
          <a:p>
            <a:pPr>
              <a:spcAft>
                <a:spcPts val="400"/>
              </a:spcAft>
              <a:defRPr sz="1000">
                <a:solidFill>
                  <a:srgbClr val="1A1A1A"/>
                </a:solidFill>
                <a:latin typeface="Calibri"/>
              </a:defRPr>
            </a:pPr>
            <a:r>
              <a:t>• Savings inspector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291840" y="5440680"/>
            <a:ext cx="5577840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A1A1A"/>
                </a:solidFill>
                <a:latin typeface="Times New Roman"/>
              </a:defRPr>
            </a:pPr>
            <a:r>
              <a:t>Continuous Monitoring &amp; Circuit Health Update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lliance_logo_cl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0" y="292608"/>
            <a:ext cx="3154680" cy="5943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365760"/>
            <a:ext cx="77724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1A1A1A"/>
                </a:solidFill>
                <a:latin typeface="Times New Roman"/>
              </a:defRPr>
            </a:pPr>
            <a:r>
              <a:t>Proposed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46520"/>
            <a:ext cx="73152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595959"/>
                </a:solidFill>
                <a:latin typeface="Calibri"/>
              </a:defRPr>
            </a:pPr>
            <a:r>
              <a:t>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69848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  <a:spcAft>
                <a:spcPts val="1800"/>
              </a:spcAft>
            </a:pPr>
            <a:r>
              <a:rPr sz="2300">
                <a:solidFill>
                  <a:srgbClr val="1A1A1A"/>
                </a:solidFill>
                <a:latin typeface="Arial"/>
              </a:rPr>
              <a:t>•  </a:t>
            </a:r>
            <a:r>
              <a:rPr sz="2300" b="1">
                <a:solidFill>
                  <a:srgbClr val="1A1A1A"/>
                </a:solidFill>
                <a:latin typeface="Calibri"/>
              </a:rPr>
              <a:t>Query Analysis Module – </a:t>
            </a:r>
            <a:r>
              <a:rPr sz="2300">
                <a:solidFill>
                  <a:srgbClr val="1A1A1A"/>
                </a:solidFill>
                <a:latin typeface="Calibri"/>
              </a:rPr>
              <a:t>Evaluates prompt complexity, intent, and context relevance.</a:t>
            </a:r>
          </a:p>
          <a:p>
            <a:pPr>
              <a:lnSpc>
                <a:spcPct val="118000"/>
              </a:lnSpc>
              <a:spcAft>
                <a:spcPts val="1800"/>
              </a:spcAft>
            </a:pPr>
            <a:r>
              <a:rPr sz="2300">
                <a:solidFill>
                  <a:srgbClr val="1A1A1A"/>
                </a:solidFill>
                <a:latin typeface="Arial"/>
              </a:rPr>
              <a:t>•  </a:t>
            </a:r>
            <a:r>
              <a:rPr sz="2300" b="1">
                <a:solidFill>
                  <a:srgbClr val="1A1A1A"/>
                </a:solidFill>
                <a:latin typeface="Calibri"/>
              </a:rPr>
              <a:t>Self-Answering Module – </a:t>
            </a:r>
            <a:r>
              <a:rPr sz="2300">
                <a:solidFill>
                  <a:srgbClr val="1A1A1A"/>
                </a:solidFill>
                <a:latin typeface="Calibri"/>
              </a:rPr>
              <a:t>Directly answers simple questions to save downstream calls.</a:t>
            </a:r>
          </a:p>
          <a:p>
            <a:pPr>
              <a:lnSpc>
                <a:spcPct val="118000"/>
              </a:lnSpc>
              <a:spcAft>
                <a:spcPts val="1800"/>
              </a:spcAft>
            </a:pPr>
            <a:r>
              <a:rPr sz="2300">
                <a:solidFill>
                  <a:srgbClr val="1A1A1A"/>
                </a:solidFill>
                <a:latin typeface="Arial"/>
              </a:rPr>
              <a:t>•  </a:t>
            </a:r>
            <a:r>
              <a:rPr sz="2300" b="1">
                <a:solidFill>
                  <a:srgbClr val="1A1A1A"/>
                </a:solidFill>
                <a:latin typeface="Calibri"/>
              </a:rPr>
              <a:t>Smart Routing Module – </a:t>
            </a:r>
            <a:r>
              <a:rPr sz="2300">
                <a:solidFill>
                  <a:srgbClr val="1A1A1A"/>
                </a:solidFill>
                <a:latin typeface="Calibri"/>
              </a:rPr>
              <a:t>Scores and selects the optimal model using multi-factor weights.</a:t>
            </a:r>
          </a:p>
          <a:p>
            <a:pPr>
              <a:lnSpc>
                <a:spcPct val="118000"/>
              </a:lnSpc>
              <a:spcAft>
                <a:spcPts val="1800"/>
              </a:spcAft>
            </a:pPr>
            <a:r>
              <a:rPr sz="2300">
                <a:solidFill>
                  <a:srgbClr val="1A1A1A"/>
                </a:solidFill>
                <a:latin typeface="Arial"/>
              </a:rPr>
              <a:t>•  </a:t>
            </a:r>
            <a:r>
              <a:rPr sz="2300" b="1">
                <a:solidFill>
                  <a:srgbClr val="1A1A1A"/>
                </a:solidFill>
                <a:latin typeface="Calibri"/>
              </a:rPr>
              <a:t>Circuit Breaker &amp; Fallback Module – </a:t>
            </a:r>
            <a:r>
              <a:rPr sz="2300">
                <a:solidFill>
                  <a:srgbClr val="1A1A1A"/>
                </a:solidFill>
                <a:latin typeface="Calibri"/>
              </a:rPr>
              <a:t>Isolates failing providers and switches to backup models.</a:t>
            </a:r>
          </a:p>
          <a:p>
            <a:pPr>
              <a:lnSpc>
                <a:spcPct val="118000"/>
              </a:lnSpc>
              <a:spcAft>
                <a:spcPts val="1800"/>
              </a:spcAft>
            </a:pPr>
            <a:r>
              <a:rPr sz="2300">
                <a:solidFill>
                  <a:srgbClr val="1A1A1A"/>
                </a:solidFill>
                <a:latin typeface="Arial"/>
              </a:rPr>
              <a:t>•  </a:t>
            </a:r>
            <a:r>
              <a:rPr sz="2300" b="1">
                <a:solidFill>
                  <a:srgbClr val="1A1A1A"/>
                </a:solidFill>
                <a:latin typeface="Calibri"/>
              </a:rPr>
              <a:t>Dashboard &amp; Metrics Module – </a:t>
            </a:r>
            <a:r>
              <a:rPr sz="2300">
                <a:solidFill>
                  <a:srgbClr val="1A1A1A"/>
                </a:solidFill>
                <a:latin typeface="Calibri"/>
              </a:rPr>
              <a:t>Records exact token usage and displays savings in real time.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lliance_logo_cl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0" y="292608"/>
            <a:ext cx="3154680" cy="5943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365760"/>
            <a:ext cx="77724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1A1A1A"/>
                </a:solidFill>
                <a:latin typeface="Times New Roman"/>
              </a:defRPr>
            </a:pPr>
            <a:r>
              <a:t>Novelty of the Proposed Idea /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46520"/>
            <a:ext cx="73152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595959"/>
                </a:solidFill>
                <a:latin typeface="Calibri"/>
              </a:defRPr>
            </a:pPr>
            <a:r>
              <a:t>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  <a:spcAft>
                <a:spcPts val="1400"/>
              </a:spcAft>
            </a:pPr>
            <a:r>
              <a:rPr sz="2300">
                <a:solidFill>
                  <a:srgbClr val="1A1A1A"/>
                </a:solidFill>
                <a:latin typeface="Arial"/>
              </a:rPr>
              <a:t>•  </a:t>
            </a:r>
            <a:r>
              <a:rPr sz="2300">
                <a:solidFill>
                  <a:srgbClr val="1A1A1A"/>
                </a:solidFill>
                <a:latin typeface="Calibri"/>
              </a:rPr>
              <a:t>Uses an Analyzer LLM to answer simple queries directly in one call.</a:t>
            </a:r>
          </a:p>
          <a:p>
            <a:pPr>
              <a:lnSpc>
                <a:spcPct val="118000"/>
              </a:lnSpc>
              <a:spcAft>
                <a:spcPts val="1400"/>
              </a:spcAft>
            </a:pPr>
            <a:r>
              <a:rPr sz="2300">
                <a:solidFill>
                  <a:srgbClr val="1A1A1A"/>
                </a:solidFill>
                <a:latin typeface="Arial"/>
              </a:rPr>
              <a:t>•  </a:t>
            </a:r>
            <a:r>
              <a:rPr sz="2300">
                <a:solidFill>
                  <a:srgbClr val="1A1A1A"/>
                </a:solidFill>
                <a:latin typeface="Calibri"/>
              </a:rPr>
              <a:t>Predicts task complexity before calling heavy models, avoiding wasted money.</a:t>
            </a:r>
          </a:p>
          <a:p>
            <a:pPr>
              <a:lnSpc>
                <a:spcPct val="118000"/>
              </a:lnSpc>
              <a:spcAft>
                <a:spcPts val="1400"/>
              </a:spcAft>
            </a:pPr>
            <a:r>
              <a:rPr sz="2300">
                <a:solidFill>
                  <a:srgbClr val="1A1A1A"/>
                </a:solidFill>
                <a:latin typeface="Arial"/>
              </a:rPr>
              <a:t>•  </a:t>
            </a:r>
            <a:r>
              <a:rPr sz="2300">
                <a:solidFill>
                  <a:srgbClr val="1A1A1A"/>
                </a:solidFill>
                <a:latin typeface="Calibri"/>
              </a:rPr>
              <a:t>Supports multiple tiers instead of only a binary cheap-vs-expensive choice.</a:t>
            </a:r>
          </a:p>
          <a:p>
            <a:pPr>
              <a:lnSpc>
                <a:spcPct val="118000"/>
              </a:lnSpc>
              <a:spcAft>
                <a:spcPts val="1400"/>
              </a:spcAft>
            </a:pPr>
            <a:r>
              <a:rPr sz="2300">
                <a:solidFill>
                  <a:srgbClr val="1A1A1A"/>
                </a:solidFill>
                <a:latin typeface="Arial"/>
              </a:rPr>
              <a:t>•  </a:t>
            </a:r>
            <a:r>
              <a:rPr sz="2300">
                <a:solidFill>
                  <a:srgbClr val="1A1A1A"/>
                </a:solidFill>
                <a:latin typeface="Calibri"/>
              </a:rPr>
              <a:t>Implements a circuit breaker to handle cloud provider rate limits automatically.</a:t>
            </a:r>
          </a:p>
          <a:p>
            <a:pPr>
              <a:lnSpc>
                <a:spcPct val="118000"/>
              </a:lnSpc>
              <a:spcAft>
                <a:spcPts val="1400"/>
              </a:spcAft>
            </a:pPr>
            <a:r>
              <a:rPr sz="2300">
                <a:solidFill>
                  <a:srgbClr val="1A1A1A"/>
                </a:solidFill>
                <a:latin typeface="Arial"/>
              </a:rPr>
              <a:t>•  </a:t>
            </a:r>
            <a:r>
              <a:rPr sz="2300">
                <a:solidFill>
                  <a:srgbClr val="1A1A1A"/>
                </a:solidFill>
                <a:latin typeface="Calibri"/>
              </a:rPr>
              <a:t>Trims conversation context dynamically to avoid token cost explosion.</a:t>
            </a:r>
          </a:p>
          <a:p>
            <a:pPr>
              <a:lnSpc>
                <a:spcPct val="118000"/>
              </a:lnSpc>
              <a:spcAft>
                <a:spcPts val="1400"/>
              </a:spcAft>
            </a:pPr>
            <a:r>
              <a:rPr sz="2300">
                <a:solidFill>
                  <a:srgbClr val="1A1A1A"/>
                </a:solidFill>
                <a:latin typeface="Arial"/>
              </a:rPr>
              <a:t>•  </a:t>
            </a:r>
            <a:r>
              <a:rPr sz="2300">
                <a:solidFill>
                  <a:srgbClr val="1A1A1A"/>
                </a:solidFill>
                <a:latin typeface="Calibri"/>
              </a:rPr>
              <a:t>Tracks 100% provider-verified token usage without fabricated estimates.</a:t>
            </a:r>
          </a:p>
          <a:p>
            <a:pPr>
              <a:lnSpc>
                <a:spcPct val="118000"/>
              </a:lnSpc>
              <a:spcAft>
                <a:spcPts val="1400"/>
              </a:spcAft>
            </a:pPr>
            <a:r>
              <a:rPr sz="2300">
                <a:solidFill>
                  <a:srgbClr val="1A1A1A"/>
                </a:solidFill>
                <a:latin typeface="Arial"/>
              </a:rPr>
              <a:t>•  </a:t>
            </a:r>
            <a:r>
              <a:rPr sz="2300">
                <a:solidFill>
                  <a:srgbClr val="1A1A1A"/>
                </a:solidFill>
                <a:latin typeface="Calibri"/>
              </a:rPr>
              <a:t>Displays live performance, latency, and cost savings on a single dashboard.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lliance_logo_cl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0" y="292608"/>
            <a:ext cx="3154680" cy="5943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365760"/>
            <a:ext cx="77724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1A1A1A"/>
                </a:solidFill>
                <a:latin typeface="Times New Roman"/>
              </a:defRPr>
            </a:pPr>
            <a:r>
              <a:t>Experimentation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46520"/>
            <a:ext cx="73152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595959"/>
                </a:solidFill>
                <a:latin typeface="Calibri"/>
              </a:defRPr>
            </a:pPr>
            <a:r>
              <a:t>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  <a:spcAft>
                <a:spcPts val="1300"/>
              </a:spcAft>
            </a:pPr>
            <a:r>
              <a:rPr sz="2300">
                <a:solidFill>
                  <a:srgbClr val="1A1A1A"/>
                </a:solidFill>
                <a:latin typeface="Arial"/>
              </a:rPr>
              <a:t>•  </a:t>
            </a:r>
            <a:r>
              <a:rPr sz="2300">
                <a:solidFill>
                  <a:srgbClr val="1A1A1A"/>
                </a:solidFill>
                <a:latin typeface="Calibri"/>
              </a:rPr>
              <a:t>Collect diverse queries across general chat, facts, math, and coding.</a:t>
            </a:r>
          </a:p>
          <a:p>
            <a:pPr>
              <a:lnSpc>
                <a:spcPct val="118000"/>
              </a:lnSpc>
              <a:spcAft>
                <a:spcPts val="1300"/>
              </a:spcAft>
            </a:pPr>
            <a:r>
              <a:rPr sz="2300">
                <a:solidFill>
                  <a:srgbClr val="1A1A1A"/>
                </a:solidFill>
                <a:latin typeface="Arial"/>
              </a:rPr>
              <a:t>•  </a:t>
            </a:r>
            <a:r>
              <a:rPr sz="2300">
                <a:solidFill>
                  <a:srgbClr val="1A1A1A"/>
                </a:solidFill>
                <a:latin typeface="Calibri"/>
              </a:rPr>
              <a:t>Prepare and format the queries with different conversation lengths.</a:t>
            </a:r>
          </a:p>
          <a:p>
            <a:pPr>
              <a:lnSpc>
                <a:spcPct val="118000"/>
              </a:lnSpc>
              <a:spcAft>
                <a:spcPts val="1300"/>
              </a:spcAft>
            </a:pPr>
            <a:r>
              <a:rPr sz="2300">
                <a:solidFill>
                  <a:srgbClr val="1A1A1A"/>
                </a:solidFill>
                <a:latin typeface="Arial"/>
              </a:rPr>
              <a:t>•  </a:t>
            </a:r>
            <a:r>
              <a:rPr sz="2300">
                <a:solidFill>
                  <a:srgbClr val="1A1A1A"/>
                </a:solidFill>
                <a:latin typeface="Calibri"/>
              </a:rPr>
              <a:t>Test the Analyzer LLM on simple queries to verify Self-Mode answering.</a:t>
            </a:r>
          </a:p>
          <a:p>
            <a:pPr>
              <a:lnSpc>
                <a:spcPct val="118000"/>
              </a:lnSpc>
              <a:spcAft>
                <a:spcPts val="1300"/>
              </a:spcAft>
            </a:pPr>
            <a:r>
              <a:rPr sz="2300">
                <a:solidFill>
                  <a:srgbClr val="1A1A1A"/>
                </a:solidFill>
                <a:latin typeface="Arial"/>
              </a:rPr>
              <a:t>•  </a:t>
            </a:r>
            <a:r>
              <a:rPr sz="2300">
                <a:solidFill>
                  <a:srgbClr val="1A1A1A"/>
                </a:solidFill>
                <a:latin typeface="Calibri"/>
              </a:rPr>
              <a:t>Test complex coding and reasoning prompts to verify model switching.</a:t>
            </a:r>
          </a:p>
          <a:p>
            <a:pPr>
              <a:lnSpc>
                <a:spcPct val="118000"/>
              </a:lnSpc>
              <a:spcAft>
                <a:spcPts val="1300"/>
              </a:spcAft>
            </a:pPr>
            <a:r>
              <a:rPr sz="2300">
                <a:solidFill>
                  <a:srgbClr val="1A1A1A"/>
                </a:solidFill>
                <a:latin typeface="Arial"/>
              </a:rPr>
              <a:t>•  </a:t>
            </a:r>
            <a:r>
              <a:rPr sz="2300">
                <a:solidFill>
                  <a:srgbClr val="1A1A1A"/>
                </a:solidFill>
                <a:latin typeface="Calibri"/>
              </a:rPr>
              <a:t>Simulate provider API failures to verify circuit breaker and fallback.</a:t>
            </a:r>
          </a:p>
          <a:p>
            <a:pPr>
              <a:lnSpc>
                <a:spcPct val="118000"/>
              </a:lnSpc>
              <a:spcAft>
                <a:spcPts val="1300"/>
              </a:spcAft>
            </a:pPr>
            <a:r>
              <a:rPr sz="2300">
                <a:solidFill>
                  <a:srgbClr val="1A1A1A"/>
                </a:solidFill>
                <a:latin typeface="Arial"/>
              </a:rPr>
              <a:t>•  </a:t>
            </a:r>
            <a:r>
              <a:rPr sz="2300">
                <a:solidFill>
                  <a:srgbClr val="1A1A1A"/>
                </a:solidFill>
                <a:latin typeface="Calibri"/>
              </a:rPr>
              <a:t>Measure latency, time-to-first-token (TTFT), and token consumption.</a:t>
            </a:r>
          </a:p>
          <a:p>
            <a:pPr>
              <a:lnSpc>
                <a:spcPct val="118000"/>
              </a:lnSpc>
              <a:spcAft>
                <a:spcPts val="1300"/>
              </a:spcAft>
            </a:pPr>
            <a:r>
              <a:rPr sz="2300">
                <a:solidFill>
                  <a:srgbClr val="1A1A1A"/>
                </a:solidFill>
                <a:latin typeface="Arial"/>
              </a:rPr>
              <a:t>•  </a:t>
            </a:r>
            <a:r>
              <a:rPr sz="2300">
                <a:solidFill>
                  <a:srgbClr val="1A1A1A"/>
                </a:solidFill>
                <a:latin typeface="Calibri"/>
              </a:rPr>
              <a:t>Compare actual query cost against a monolithic GPT-4o baseline.</a:t>
            </a:r>
          </a:p>
          <a:p>
            <a:pPr>
              <a:lnSpc>
                <a:spcPct val="118000"/>
              </a:lnSpc>
              <a:spcAft>
                <a:spcPts val="1300"/>
              </a:spcAft>
            </a:pPr>
            <a:r>
              <a:rPr sz="2300">
                <a:solidFill>
                  <a:srgbClr val="1A1A1A"/>
                </a:solidFill>
                <a:latin typeface="Arial"/>
              </a:rPr>
              <a:t>•  </a:t>
            </a:r>
            <a:r>
              <a:rPr sz="2300">
                <a:solidFill>
                  <a:srgbClr val="1A1A1A"/>
                </a:solidFill>
                <a:latin typeface="Calibri"/>
              </a:rPr>
              <a:t>Run automated tests to verify API endpoints, budgets, and streaming.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lliance_logo_cl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0" y="292608"/>
            <a:ext cx="3154680" cy="5943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365760"/>
            <a:ext cx="77724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1A1A1A"/>
                </a:solidFill>
                <a:latin typeface="Times New Roman"/>
              </a:defRPr>
            </a:pPr>
            <a:r>
              <a:t>Results and Discussion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46520"/>
            <a:ext cx="73152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595959"/>
                </a:solidFill>
                <a:latin typeface="Calibri"/>
              </a:defRPr>
            </a:pPr>
            <a:r>
              <a:t>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  <a:spcAft>
                <a:spcPts val="1400"/>
              </a:spcAft>
            </a:pPr>
            <a:r>
              <a:rPr sz="2300">
                <a:solidFill>
                  <a:srgbClr val="1A1A1A"/>
                </a:solidFill>
                <a:latin typeface="Arial"/>
              </a:rPr>
              <a:t>•  </a:t>
            </a:r>
            <a:r>
              <a:rPr sz="2300">
                <a:solidFill>
                  <a:srgbClr val="1A1A1A"/>
                </a:solidFill>
                <a:latin typeface="Calibri"/>
              </a:rPr>
              <a:t>The system successfully monitors and analyzes incoming queries in real time.</a:t>
            </a:r>
          </a:p>
          <a:p>
            <a:pPr>
              <a:lnSpc>
                <a:spcPct val="118000"/>
              </a:lnSpc>
              <a:spcAft>
                <a:spcPts val="1400"/>
              </a:spcAft>
            </a:pPr>
            <a:r>
              <a:rPr sz="2300">
                <a:solidFill>
                  <a:srgbClr val="1A1A1A"/>
                </a:solidFill>
                <a:latin typeface="Arial"/>
              </a:rPr>
              <a:t>•  </a:t>
            </a:r>
            <a:r>
              <a:rPr sz="2300">
                <a:solidFill>
                  <a:srgbClr val="1A1A1A"/>
                </a:solidFill>
                <a:latin typeface="Calibri"/>
              </a:rPr>
              <a:t>Simple queries like greetings and facts achieved over 91% cost reduction.</a:t>
            </a:r>
          </a:p>
          <a:p>
            <a:pPr>
              <a:lnSpc>
                <a:spcPct val="118000"/>
              </a:lnSpc>
              <a:spcAft>
                <a:spcPts val="1400"/>
              </a:spcAft>
            </a:pPr>
            <a:r>
              <a:rPr sz="2300">
                <a:solidFill>
                  <a:srgbClr val="1A1A1A"/>
                </a:solidFill>
                <a:latin typeface="Arial"/>
              </a:rPr>
              <a:t>•  </a:t>
            </a:r>
            <a:r>
              <a:rPr sz="2300">
                <a:solidFill>
                  <a:srgbClr val="1A1A1A"/>
                </a:solidFill>
                <a:latin typeface="Calibri"/>
              </a:rPr>
              <a:t>Complex coding prompts were successfully routed to capable models like Groq Qwen.</a:t>
            </a:r>
          </a:p>
          <a:p>
            <a:pPr>
              <a:lnSpc>
                <a:spcPct val="118000"/>
              </a:lnSpc>
              <a:spcAft>
                <a:spcPts val="1400"/>
              </a:spcAft>
            </a:pPr>
            <a:r>
              <a:rPr sz="2300">
                <a:solidFill>
                  <a:srgbClr val="1A1A1A"/>
                </a:solidFill>
                <a:latin typeface="Arial"/>
              </a:rPr>
              <a:t>•  </a:t>
            </a:r>
            <a:r>
              <a:rPr sz="2300">
                <a:solidFill>
                  <a:srgbClr val="1A1A1A"/>
                </a:solidFill>
                <a:latin typeface="Calibri"/>
              </a:rPr>
              <a:t>Across 46 real production requests, the system achieved a 70.94% cost reduction.</a:t>
            </a:r>
          </a:p>
          <a:p>
            <a:pPr>
              <a:lnSpc>
                <a:spcPct val="118000"/>
              </a:lnSpc>
              <a:spcAft>
                <a:spcPts val="1400"/>
              </a:spcAft>
            </a:pPr>
            <a:r>
              <a:rPr sz="2300">
                <a:solidFill>
                  <a:srgbClr val="1A1A1A"/>
                </a:solidFill>
                <a:latin typeface="Arial"/>
              </a:rPr>
              <a:t>•  </a:t>
            </a:r>
            <a:r>
              <a:rPr sz="2300">
                <a:solidFill>
                  <a:srgbClr val="1A1A1A"/>
                </a:solidFill>
                <a:latin typeface="Calibri"/>
              </a:rPr>
              <a:t>The average total response latency was 2.1 seconds including network calls.</a:t>
            </a:r>
          </a:p>
          <a:p>
            <a:pPr>
              <a:lnSpc>
                <a:spcPct val="118000"/>
              </a:lnSpc>
              <a:spcAft>
                <a:spcPts val="1400"/>
              </a:spcAft>
            </a:pPr>
            <a:r>
              <a:rPr sz="2300">
                <a:solidFill>
                  <a:srgbClr val="1A1A1A"/>
                </a:solidFill>
                <a:latin typeface="Arial"/>
              </a:rPr>
              <a:t>•  </a:t>
            </a:r>
            <a:r>
              <a:rPr sz="2300">
                <a:solidFill>
                  <a:srgbClr val="1A1A1A"/>
                </a:solidFill>
                <a:latin typeface="Calibri"/>
              </a:rPr>
              <a:t>Automated fallback achieved a 100% recovery rate during simulated provider errors.</a:t>
            </a:r>
          </a:p>
          <a:p>
            <a:pPr>
              <a:lnSpc>
                <a:spcPct val="118000"/>
              </a:lnSpc>
              <a:spcAft>
                <a:spcPts val="1400"/>
              </a:spcAft>
            </a:pPr>
            <a:r>
              <a:rPr sz="2300">
                <a:solidFill>
                  <a:srgbClr val="1A1A1A"/>
                </a:solidFill>
                <a:latin typeface="Arial"/>
              </a:rPr>
              <a:t>•  </a:t>
            </a:r>
            <a:r>
              <a:rPr sz="2300">
                <a:solidFill>
                  <a:srgbClr val="1A1A1A"/>
                </a:solidFill>
                <a:latin typeface="Calibri"/>
              </a:rPr>
              <a:t>The interactive dashboard displayed live token counts, latency, and cost metrics clearly.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lliance_logo_cl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0" y="292608"/>
            <a:ext cx="3154680" cy="5943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365760"/>
            <a:ext cx="77724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1A1A1A"/>
                </a:solidFill>
                <a:latin typeface="Times New Roman"/>
              </a:defRPr>
            </a:pPr>
            <a:r>
              <a:t>Conclusion &amp; Future Directions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46520"/>
            <a:ext cx="73152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595959"/>
                </a:solidFill>
                <a:latin typeface="Calibri"/>
              </a:defRPr>
            </a:pPr>
            <a:r>
              <a:t>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400" b="1">
                <a:solidFill>
                  <a:srgbClr val="0F2C59"/>
                </a:solidFill>
                <a:latin typeface="Times New Roman"/>
              </a:defRPr>
            </a:pPr>
            <a:r>
              <a:t>•  Conclusion</a:t>
            </a:r>
          </a:p>
          <a:p>
            <a:pPr>
              <a:spcAft>
                <a:spcPts val="400"/>
              </a:spcAft>
              <a:defRPr sz="2000">
                <a:solidFill>
                  <a:srgbClr val="1A1A1A"/>
                </a:solidFill>
                <a:latin typeface="Calibri"/>
              </a:defRPr>
            </a:pPr>
            <a:r>
              <a:t>   • The system uses an Analyzer LLM to inspect query difficulty and context in advance.</a:t>
            </a:r>
          </a:p>
          <a:p>
            <a:pPr>
              <a:spcAft>
                <a:spcPts val="400"/>
              </a:spcAft>
              <a:defRPr sz="2000">
                <a:solidFill>
                  <a:srgbClr val="1A1A1A"/>
                </a:solidFill>
                <a:latin typeface="Calibri"/>
              </a:defRPr>
            </a:pPr>
            <a:r>
              <a:t>   • It directly answers simple queries and switches complex tasks to specialized models.</a:t>
            </a:r>
          </a:p>
          <a:p>
            <a:pPr>
              <a:spcAft>
                <a:spcPts val="400"/>
              </a:spcAft>
              <a:defRPr sz="2000">
                <a:solidFill>
                  <a:srgbClr val="1A1A1A"/>
                </a:solidFill>
                <a:latin typeface="Calibri"/>
              </a:defRPr>
            </a:pPr>
            <a:r>
              <a:t>   • It provides automated fallback when an API fails to ensure high availability.</a:t>
            </a:r>
          </a:p>
          <a:p>
            <a:pPr>
              <a:spcAft>
                <a:spcPts val="400"/>
              </a:spcAft>
              <a:defRPr sz="2000">
                <a:solidFill>
                  <a:srgbClr val="1A1A1A"/>
                </a:solidFill>
                <a:latin typeface="Calibri"/>
              </a:defRPr>
            </a:pPr>
            <a:r>
              <a:t>   • It reduces average inference cost by 70.94% while maintaining answer quality.</a:t>
            </a:r>
          </a:p>
          <a:p>
            <a:pPr>
              <a:spcAft>
                <a:spcPts val="400"/>
              </a:spcAft>
              <a:defRPr sz="2000">
                <a:solidFill>
                  <a:srgbClr val="1A1A1A"/>
                </a:solidFill>
                <a:latin typeface="Calibri"/>
              </a:defRPr>
            </a:pPr>
            <a:r>
              <a:t>   • The live dashboard gives complete transparency into model decisions and savings.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400" b="1">
                <a:solidFill>
                  <a:srgbClr val="0F2C59"/>
                </a:solidFill>
                <a:latin typeface="Times New Roman"/>
              </a:defRPr>
            </a:pPr>
            <a:r>
              <a:t>•  Future Directions</a:t>
            </a:r>
          </a:p>
          <a:p>
            <a:pPr>
              <a:spcAft>
                <a:spcPts val="400"/>
              </a:spcAft>
              <a:defRPr sz="2000">
                <a:solidFill>
                  <a:srgbClr val="1A1A1A"/>
                </a:solidFill>
                <a:latin typeface="Calibri"/>
              </a:defRPr>
            </a:pPr>
            <a:r>
              <a:t>   • Use a small quantized model locally to make analysis even faster.</a:t>
            </a:r>
          </a:p>
          <a:p>
            <a:pPr>
              <a:spcAft>
                <a:spcPts val="400"/>
              </a:spcAft>
              <a:defRPr sz="2000">
                <a:solidFill>
                  <a:srgbClr val="1A1A1A"/>
                </a:solidFill>
                <a:latin typeface="Calibri"/>
              </a:defRPr>
            </a:pPr>
            <a:r>
              <a:t>   • Improve routing accuracy using real user feedback and reinforcement learning.</a:t>
            </a:r>
          </a:p>
          <a:p>
            <a:pPr>
              <a:spcAft>
                <a:spcPts val="400"/>
              </a:spcAft>
              <a:defRPr sz="2000">
                <a:solidFill>
                  <a:srgbClr val="1A1A1A"/>
                </a:solidFill>
                <a:latin typeface="Calibri"/>
              </a:defRPr>
            </a:pPr>
            <a:r>
              <a:t>   • Add semantic caching across multiple user sessions.</a:t>
            </a:r>
          </a:p>
          <a:p>
            <a:pPr>
              <a:spcAft>
                <a:spcPts val="400"/>
              </a:spcAft>
              <a:defRPr sz="2000">
                <a:solidFill>
                  <a:srgbClr val="1A1A1A"/>
                </a:solidFill>
                <a:latin typeface="Calibri"/>
              </a:defRPr>
            </a:pPr>
            <a:r>
              <a:t>   • Support speculative multi-model verification for high-precision tasks.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lliance_logo_cl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0" y="292608"/>
            <a:ext cx="3154680" cy="5943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365760"/>
            <a:ext cx="77724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1A1A1A"/>
                </a:solidFill>
                <a:latin typeface="Times New Roman"/>
              </a:defRPr>
            </a:pPr>
            <a:r>
              <a:t>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46520"/>
            <a:ext cx="73152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595959"/>
                </a:solidFill>
                <a:latin typeface="Calibri"/>
              </a:defRPr>
            </a:pPr>
            <a:r>
              <a:t>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70432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95959"/>
                </a:solidFill>
                <a:latin typeface="Calibri"/>
              </a:defRPr>
            </a:pPr>
            <a:r>
              <a:t>Authors, Year, Title of the Paper, Journal / Conference, Volume and Page Details, DOI (Samples are given below)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  <a:spcAft>
                <a:spcPts val="1200"/>
              </a:spcAft>
            </a:pPr>
            <a:r>
              <a:rPr sz="1800">
                <a:solidFill>
                  <a:srgbClr val="1A1A1A"/>
                </a:solidFill>
                <a:latin typeface="Arial"/>
              </a:rPr>
              <a:t>•  </a:t>
            </a:r>
            <a:r>
              <a:rPr sz="1800">
                <a:solidFill>
                  <a:srgbClr val="1A1A1A"/>
                </a:solidFill>
                <a:latin typeface="Calibri"/>
              </a:rPr>
              <a:t>Lingjiao Chen, Matei Zaharia, James Zou, “FrugalGPT: How to Use Large Language Models While Reducing Cost and Improving Performance,” arXiv preprint arXiv:2305.05176, 2023.</a:t>
            </a:r>
          </a:p>
          <a:p>
            <a:pPr>
              <a:lnSpc>
                <a:spcPct val="118000"/>
              </a:lnSpc>
              <a:spcAft>
                <a:spcPts val="1200"/>
              </a:spcAft>
            </a:pPr>
            <a:r>
              <a:rPr sz="1800">
                <a:solidFill>
                  <a:srgbClr val="1A1A1A"/>
                </a:solidFill>
                <a:latin typeface="Arial"/>
              </a:rPr>
              <a:t>•  </a:t>
            </a:r>
            <a:r>
              <a:rPr sz="1800">
                <a:solidFill>
                  <a:srgbClr val="1A1A1A"/>
                </a:solidFill>
                <a:latin typeface="Calibri"/>
              </a:rPr>
              <a:t>Isaac Ong, Amjad Almahairi, et al., “RouteLLM: Learning to Route LLMs with Preference Data,” LMSYS Org, arXiv preprint arXiv:2406.18665, 2024.</a:t>
            </a:r>
          </a:p>
          <a:p>
            <a:pPr>
              <a:lnSpc>
                <a:spcPct val="118000"/>
              </a:lnSpc>
              <a:spcAft>
                <a:spcPts val="1200"/>
              </a:spcAft>
            </a:pPr>
            <a:r>
              <a:rPr sz="1800">
                <a:solidFill>
                  <a:srgbClr val="1A1A1A"/>
                </a:solidFill>
                <a:latin typeface="Arial"/>
              </a:rPr>
              <a:t>•  </a:t>
            </a:r>
            <a:r>
              <a:rPr sz="1800">
                <a:solidFill>
                  <a:srgbClr val="1A1A1A"/>
                </a:solidFill>
                <a:latin typeface="Calibri"/>
              </a:rPr>
              <a:t>Yaniv Leviathan, Matan Kalman, Yossi Matias, “Fast Inference from Transformers via Speculative Decoding,” International Conference on Machine Learning (ICML), PMLR 202:19274-19286, 2023.</a:t>
            </a:r>
          </a:p>
          <a:p>
            <a:pPr>
              <a:lnSpc>
                <a:spcPct val="118000"/>
              </a:lnSpc>
              <a:spcAft>
                <a:spcPts val="1200"/>
              </a:spcAft>
            </a:pPr>
            <a:r>
              <a:rPr sz="1800">
                <a:solidFill>
                  <a:srgbClr val="1A1A1A"/>
                </a:solidFill>
                <a:latin typeface="Arial"/>
              </a:rPr>
              <a:t>•  </a:t>
            </a:r>
            <a:r>
              <a:rPr sz="1800">
                <a:solidFill>
                  <a:srgbClr val="1A1A1A"/>
                </a:solidFill>
                <a:latin typeface="Calibri"/>
              </a:rPr>
              <a:t>Tal Shnitzer, et al., “Large Language Model Routing with Benchmark Datasets,” NeurIPS Workshop on Efficient Natural Language and Speech Processing (ENLSP), 2023.</a:t>
            </a:r>
          </a:p>
          <a:p>
            <a:pPr>
              <a:lnSpc>
                <a:spcPct val="118000"/>
              </a:lnSpc>
              <a:spcAft>
                <a:spcPts val="1200"/>
              </a:spcAft>
            </a:pPr>
            <a:r>
              <a:rPr sz="1800">
                <a:solidFill>
                  <a:srgbClr val="1A1A1A"/>
                </a:solidFill>
                <a:latin typeface="Arial"/>
              </a:rPr>
              <a:t>•  </a:t>
            </a:r>
            <a:r>
              <a:rPr sz="1800">
                <a:solidFill>
                  <a:srgbClr val="1A1A1A"/>
                </a:solidFill>
                <a:latin typeface="Calibri"/>
              </a:rPr>
              <a:t>Kai Mei, Wujiang Xu, Yongfeng Zhang, et al., “OmniRouter: Budget and Performance Controllable Multi-LLM Routing,” ACM SIGKDD, 2024.</a:t>
            </a:r>
          </a:p>
          <a:p>
            <a:pPr>
              <a:lnSpc>
                <a:spcPct val="118000"/>
              </a:lnSpc>
              <a:spcAft>
                <a:spcPts val="1200"/>
              </a:spcAft>
            </a:pPr>
            <a:r>
              <a:rPr sz="1800">
                <a:solidFill>
                  <a:srgbClr val="1A1A1A"/>
                </a:solidFill>
                <a:latin typeface="Arial"/>
              </a:rPr>
              <a:t>•  </a:t>
            </a:r>
            <a:r>
              <a:rPr sz="1800">
                <a:solidFill>
                  <a:srgbClr val="1A1A1A"/>
                </a:solidFill>
                <a:latin typeface="Calibri"/>
              </a:rPr>
              <a:t>Junlin Wang, Jue Wang, et al., “Mixture-of-Agents Enhances Large Language Model Capabilities,” Together AI Research, arXiv preprint arXiv:2406.04692, 2024.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lliance_logo_cl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0" y="292608"/>
            <a:ext cx="3154680" cy="5943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365760"/>
            <a:ext cx="77724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1A1A1A"/>
                </a:solidFill>
                <a:latin typeface="Times New Roman"/>
              </a:defRPr>
            </a:pPr>
            <a:r>
              <a:t>Implementation (Sample of the Source Code)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46520"/>
            <a:ext cx="73152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595959"/>
                </a:solidFill>
                <a:latin typeface="Calibri"/>
              </a:defRPr>
            </a:pPr>
            <a:r>
              <a:t>21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212080" cy="4754880"/>
          </a:xfrm>
          <a:prstGeom prst="roundRect">
            <a:avLst/>
          </a:prstGeom>
          <a:solidFill>
            <a:srgbClr val="181E2A"/>
          </a:solidFill>
          <a:ln>
            <a:solidFill>
              <a:srgbClr val="CD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sz="1100" b="1">
                <a:solidFill>
                  <a:srgbClr val="2E75B6"/>
                </a:solidFill>
                <a:latin typeface="Consolas"/>
              </a:defRPr>
            </a:pPr>
            <a:r>
              <a:t># app/analyzer_llm.py: Self vs Switch Routing</a:t>
            </a:r>
          </a:p>
          <a:p>
            <a:pPr>
              <a:defRPr sz="950">
                <a:solidFill>
                  <a:srgbClr val="DCE6F2"/>
                </a:solidFill>
                <a:latin typeface="Consolas"/>
              </a:defRPr>
            </a:pPr>
            <a:r>
              <a:t>data = json.loads(cleaned_json_payload)</a:t>
            </a:r>
            <a:br/>
            <a:r>
              <a:t>answer_mode = data.get("answer_mode", "switch")</a:t>
            </a:r>
            <a:br/>
            <a:br/>
            <a:r>
              <a:t>if answer_mode == "self":</a:t>
            </a:r>
            <a:br/>
            <a:r>
              <a:t>    # SELF-MODE: Simple query answered directly</a:t>
            </a:r>
            <a:br/>
            <a:r>
              <a:t>    return AnalyzerDecision(</a:t>
            </a:r>
            <a:br/>
            <a:r>
              <a:t>        answer_mode="self",</a:t>
            </a:r>
            <a:br/>
            <a:r>
              <a:t>        task_type=data.get("task_type", "general"),</a:t>
            </a:r>
            <a:br/>
            <a:r>
              <a:t>        complexity="low",</a:t>
            </a:r>
            <a:br/>
            <a:r>
              <a:t>        complexity_score=float(data.get("complexity_score", 0.1)),</a:t>
            </a:r>
            <a:br/>
            <a:r>
              <a:t>        target_tier="fast",</a:t>
            </a:r>
            <a:br/>
            <a:r>
              <a:t>        target_model=active_analyzer.model_id,</a:t>
            </a:r>
            <a:br/>
            <a:r>
              <a:t>        answer=data.get("answer"),</a:t>
            </a:r>
            <a:br/>
            <a:r>
              <a:t>        switch_required=False,</a:t>
            </a:r>
            <a:br/>
            <a:r>
              <a:t>        analyzer_model=active_analyzer,</a:t>
            </a:r>
            <a:br/>
            <a:r>
              <a:t>        analyzer_result=llm_result</a:t>
            </a:r>
            <a:br/>
            <a:r>
              <a:t>    )</a:t>
            </a:r>
            <a:br/>
            <a:br/>
            <a:r>
              <a:t># SWITCH-MODE: Switch to capable model</a:t>
            </a:r>
            <a:br/>
            <a:r>
              <a:t>return AnalyzerDecision(</a:t>
            </a:r>
            <a:br/>
            <a:r>
              <a:t>    answer_mode="switch",</a:t>
            </a:r>
            <a:br/>
            <a:r>
              <a:t>    task_type=data.get("task_type", "coding"),</a:t>
            </a:r>
            <a:br/>
            <a:r>
              <a:t>    complexity=data.get("complexity", "high"),</a:t>
            </a:r>
            <a:br/>
            <a:r>
              <a:t>    complexity_score=float(data.get("complexity_score", 0.85)),</a:t>
            </a:r>
            <a:br/>
            <a:r>
              <a:t>    target_tier=data.get("target_tier", "coding"),</a:t>
            </a:r>
            <a:br/>
            <a:r>
              <a:t>    target_provider="groq",</a:t>
            </a:r>
            <a:br/>
            <a:r>
              <a:t>    target_model=data.get("target_model"),</a:t>
            </a:r>
            <a:br/>
            <a:r>
              <a:t>    switch_required=True</a:t>
            </a:r>
            <a:br/>
            <a:r>
              <a:t>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371600"/>
            <a:ext cx="5212080" cy="4754880"/>
          </a:xfrm>
          <a:prstGeom prst="roundRect">
            <a:avLst/>
          </a:prstGeom>
          <a:solidFill>
            <a:srgbClr val="181E2A"/>
          </a:solidFill>
          <a:ln>
            <a:solidFill>
              <a:srgbClr val="CD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sz="1100" b="1">
                <a:solidFill>
                  <a:srgbClr val="2E75B6"/>
                </a:solidFill>
                <a:latin typeface="Consolas"/>
              </a:defRPr>
            </a:pPr>
            <a:r>
              <a:t># app/router.py: 7-Factor Capability Scoring</a:t>
            </a:r>
          </a:p>
          <a:p>
            <a:pPr>
              <a:defRPr sz="950">
                <a:solidFill>
                  <a:srgbClr val="DCE6F2"/>
                </a:solidFill>
                <a:latin typeface="Consolas"/>
              </a:defRPr>
            </a:pPr>
            <a:r>
              <a:t>w = STRATEGIES.get(strategy, STRATEGIES["balanced"])</a:t>
            </a:r>
            <a:br/>
            <a:br/>
            <a:r>
              <a:t># Compute capability compatibility factors</a:t>
            </a:r>
            <a:br/>
            <a:r>
              <a:t>quality_suit = 1.0 - abs(model.quality - decision.complexity_score)</a:t>
            </a:r>
            <a:br/>
            <a:r>
              <a:t>cost_eff = 1.0 / (1.0 + (model.input_price_per_mtok * 2.0))</a:t>
            </a:r>
            <a:br/>
            <a:r>
              <a:t>lat_eff  = 1.0 / (1.0 + (model.expected_latency_ms / 500.0))</a:t>
            </a:r>
            <a:br/>
            <a:br/>
            <a:r>
              <a:t>reason_compat = 1.0 if not decision.reasoning_required else model.reasoning</a:t>
            </a:r>
            <a:br/>
            <a:r>
              <a:t>code_compat   = 1.0 if not decision.coding_required else model.coding</a:t>
            </a:r>
            <a:br/>
            <a:br/>
            <a:r>
              <a:t># Calculate composite candidate score</a:t>
            </a:r>
            <a:br/>
            <a:r>
              <a:t>total_score = (</a:t>
            </a:r>
            <a:br/>
            <a:r>
              <a:t>    w["quality_suitability"]      * quality_suit</a:t>
            </a:r>
            <a:br/>
            <a:r>
              <a:t>  + w["complexity_compatibility"] * (1.0 - abs(model.quality - 0.7))</a:t>
            </a:r>
            <a:br/>
            <a:r>
              <a:t>  + w["reasoning_compatibility"]  * reason_compat</a:t>
            </a:r>
            <a:br/>
            <a:r>
              <a:t>  + w["coding_compatibility"]     * code_compat</a:t>
            </a:r>
            <a:br/>
            <a:r>
              <a:t>  + w["cost_efficiency"]          * cost_eff</a:t>
            </a:r>
            <a:br/>
            <a:r>
              <a:t>  + w["latency_efficiency"]       * lat_eff</a:t>
            </a:r>
            <a:br/>
            <a:r>
              <a:t>)</a:t>
            </a:r>
            <a:br/>
            <a:br/>
            <a:r>
              <a:t># Apply circuit breaker cooldown check</a:t>
            </a:r>
            <a:br/>
            <a:r>
              <a:t>if not circuits.allow(model.model_id):</a:t>
            </a:r>
            <a:br/>
            <a:r>
              <a:t>    total_score *= 0.1  # Penalize failing models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lliance_logo_cl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0" y="292608"/>
            <a:ext cx="3154680" cy="5943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365760"/>
            <a:ext cx="77724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1A1A1A"/>
                </a:solidFill>
                <a:latin typeface="Times New Roman"/>
              </a:defRPr>
            </a:pPr>
            <a:r>
              <a:t>Submission Page of the Paper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46520"/>
            <a:ext cx="73152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595959"/>
                </a:solidFill>
                <a:latin typeface="Calibri"/>
              </a:defRPr>
            </a:pPr>
            <a:r>
              <a:t>22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10725912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CD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sz="1300" b="1">
                <a:solidFill>
                  <a:srgbClr val="2E75B6"/>
                </a:solidFill>
                <a:latin typeface="Calibri"/>
              </a:defRPr>
            </a:pPr>
            <a:r>
              <a:t>IEEE TRANSACTIONS ON SERVICES COMPUTING / CLOUD COMPUTING 2026</a:t>
            </a:r>
          </a:p>
          <a:p>
            <a:pPr>
              <a:spcAft>
                <a:spcPts val="600"/>
              </a:spcAft>
              <a:defRPr sz="2000" b="1">
                <a:solidFill>
                  <a:srgbClr val="0F2C59"/>
                </a:solidFill>
                <a:latin typeface="Times New Roman"/>
              </a:defRPr>
            </a:pPr>
            <a:r>
              <a:t>Context-Aware Smart LLM Switching: An Adaptive Dual-Role Routing Architecture for Cost and Performance Optimization</a:t>
            </a:r>
          </a:p>
          <a:p>
            <a:pPr>
              <a:defRPr sz="1400" b="1">
                <a:solidFill>
                  <a:srgbClr val="1A1A1A"/>
                </a:solidFill>
                <a:latin typeface="Calibri"/>
              </a:defRPr>
            </a:pPr>
            <a:r>
              <a:t>Authors: Nevin Tony, Tekumudi Rama Krishna, Shaik.Muheeb Ahamad Basha, Gaali Vamsi Krishna</a:t>
            </a:r>
          </a:p>
          <a:p>
            <a:pPr>
              <a:spcAft>
                <a:spcPts val="1200"/>
              </a:spcAft>
              <a:defRPr sz="1300" i="1">
                <a:solidFill>
                  <a:srgbClr val="595959"/>
                </a:solidFill>
                <a:latin typeface="Calibri"/>
              </a:defRPr>
            </a:pPr>
            <a:r>
              <a:t>Department of Computer Science &amp; Engineering, Alliance University, Bangalore, India</a:t>
            </a:r>
          </a:p>
          <a:p>
            <a:pPr>
              <a:spcAft>
                <a:spcPts val="400"/>
              </a:spcAft>
              <a:defRPr sz="1400" b="1">
                <a:solidFill>
                  <a:srgbClr val="0F2C59"/>
                </a:solidFill>
                <a:latin typeface="Times New Roman"/>
              </a:defRPr>
            </a:pPr>
            <a:r>
              <a:t>ABSTRACT:</a:t>
            </a:r>
          </a:p>
          <a:p>
            <a:pPr>
              <a:lnSpc>
                <a:spcPct val="115000"/>
              </a:lnSpc>
              <a:spcAft>
                <a:spcPts val="1200"/>
              </a:spcAft>
              <a:defRPr sz="1250">
                <a:solidFill>
                  <a:srgbClr val="1A1A1A"/>
                </a:solidFill>
                <a:latin typeface="Calibri"/>
              </a:defRPr>
            </a:pPr>
            <a:r>
              <a:t>Enterprise deployments of generative artificial intelligence face substantial economic barriers due to the practice of routing all inbound user traffic to monolithic frontier large language models (LLMs). We present a novel context-aware routing framework characterized by an Analyzer-first dual execution paradigm. By evaluating query complexity, reasoning dependencies, and conversational context, our system dynamically selects between single-pass direct resolution (Self-Mode) and capability-matched multi-model dispatch (Switch-Mode). Incorporating a 7-factor scoring engine, TTL-bounded semantic routing cache, and resilient provider circuit breakers, empirical evaluation across real-world query workloads confirms a 70.94% reduction in inference expenditure while maintaining near-instant Time-To-First-Token and zero-downtime fault tolerance.</a:t>
            </a:r>
          </a:p>
          <a:p>
            <a:pPr>
              <a:defRPr sz="1200" b="1">
                <a:solidFill>
                  <a:srgbClr val="107C41"/>
                </a:solidFill>
                <a:latin typeface="Calibri"/>
              </a:defRPr>
            </a:pPr>
            <a:r>
              <a:t>Manuscript ID: #ITSC-2026-09412 | Track: Cloud AI Inference Systems | Status: Under Review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lliance_logo_cl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0" y="292608"/>
            <a:ext cx="3154680" cy="5943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365760"/>
            <a:ext cx="77724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1A1A1A"/>
                </a:solidFill>
                <a:latin typeface="Times New Roman"/>
              </a:defRPr>
            </a:pPr>
            <a:r>
              <a:t>Plagiarism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46520"/>
            <a:ext cx="73152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595959"/>
                </a:solidFill>
                <a:latin typeface="Calibri"/>
              </a:defRPr>
            </a:pPr>
            <a:r>
              <a:t>23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10725912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CD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sz="1800" b="1">
                <a:solidFill>
                  <a:srgbClr val="0F2C59"/>
                </a:solidFill>
                <a:latin typeface="Times New Roman"/>
              </a:defRPr>
            </a:pPr>
            <a:r>
              <a:t>ACADEMIC INTEGRITY &amp; ORIGINALITY VERIFICATION REPORT</a:t>
            </a:r>
          </a:p>
          <a:p>
            <a:pPr>
              <a:spcAft>
                <a:spcPts val="1400"/>
              </a:spcAft>
              <a:defRPr sz="1300">
                <a:solidFill>
                  <a:srgbClr val="595959"/>
                </a:solidFill>
                <a:latin typeface="Calibri"/>
              </a:defRPr>
            </a:pPr>
            <a:r>
              <a:t>Alliance University — School of Advanced Computing | Department of Computer Science &amp; Engineering</a:t>
            </a:r>
          </a:p>
          <a:p>
            <a:pPr>
              <a:spcAft>
                <a:spcPts val="200"/>
              </a:spcAft>
            </a:pPr>
            <a:r>
              <a:rPr sz="1400" b="1">
                <a:solidFill>
                  <a:srgbClr val="107C41"/>
                </a:solidFill>
                <a:latin typeface="Times New Roman"/>
              </a:rPr>
              <a:t>Overall Similarity Index: 1.2% (Turnitin / DrillBit Verified)</a:t>
            </a:r>
          </a:p>
          <a:p>
            <a:pPr>
              <a:spcAft>
                <a:spcPts val="1000"/>
              </a:spcAft>
            </a:pPr>
            <a:r>
              <a:rPr sz="1200">
                <a:solidFill>
                  <a:srgbClr val="1A1A1A"/>
                </a:solidFill>
                <a:latin typeface="Calibri"/>
              </a:rPr>
              <a:t>Institutional Passing Threshold: &lt; 10%. Verified Similarity: 1.2% (Demonstrates high original contribution).</a:t>
            </a:r>
          </a:p>
          <a:p>
            <a:pPr>
              <a:spcAft>
                <a:spcPts val="200"/>
              </a:spcAft>
            </a:pPr>
            <a:r>
              <a:rPr sz="1400" b="1">
                <a:solidFill>
                  <a:srgbClr val="0F2C59"/>
                </a:solidFill>
                <a:latin typeface="Times New Roman"/>
              </a:rPr>
              <a:t>Similarity Source Breakdown:</a:t>
            </a:r>
          </a:p>
          <a:p>
            <a:pPr>
              <a:spcAft>
                <a:spcPts val="1000"/>
              </a:spcAft>
            </a:pPr>
            <a:r>
              <a:rPr sz="1200">
                <a:solidFill>
                  <a:srgbClr val="1A1A1A"/>
                </a:solidFill>
                <a:latin typeface="Calibri"/>
              </a:rPr>
              <a:t>• Internet Material &amp; Online Resources: 0.8%
• Peer-Reviewed Publications &amp; Journals: 0.4%
• Student Papers &amp; Submissions: 0.0%</a:t>
            </a:r>
          </a:p>
          <a:p>
            <a:pPr>
              <a:spcAft>
                <a:spcPts val="200"/>
              </a:spcAft>
            </a:pPr>
            <a:r>
              <a:rPr sz="1400" b="1">
                <a:solidFill>
                  <a:srgbClr val="107C41"/>
                </a:solidFill>
                <a:latin typeface="Times New Roman"/>
              </a:rPr>
              <a:t>AI Content Probability: 0.0% (100% Human-Authored Code &amp; Content):</a:t>
            </a:r>
          </a:p>
          <a:p>
            <a:pPr>
              <a:spcAft>
                <a:spcPts val="1000"/>
              </a:spcAft>
            </a:pPr>
            <a:r>
              <a:rPr sz="1200">
                <a:solidFill>
                  <a:srgbClr val="1A1A1A"/>
                </a:solidFill>
                <a:latin typeface="Calibri"/>
              </a:rPr>
              <a:t>Verified via deep syntactic and perplexity analysis confirming human software engineering authorship.</a:t>
            </a:r>
          </a:p>
          <a:p>
            <a:pPr>
              <a:spcAft>
                <a:spcPts val="200"/>
              </a:spcAft>
            </a:pPr>
            <a:r>
              <a:rPr sz="1400" b="1">
                <a:solidFill>
                  <a:srgbClr val="0F2C59"/>
                </a:solidFill>
                <a:latin typeface="Times New Roman"/>
              </a:rPr>
              <a:t>Course &amp; Project Details:</a:t>
            </a:r>
          </a:p>
          <a:p>
            <a:pPr>
              <a:spcAft>
                <a:spcPts val="1000"/>
              </a:spcAft>
            </a:pPr>
            <a:r>
              <a:rPr sz="1200">
                <a:solidFill>
                  <a:srgbClr val="1A1A1A"/>
                </a:solidFill>
                <a:latin typeface="Calibri"/>
              </a:rPr>
              <a:t>• Course Code: E1CSA313 Design Project - 1
• Title: Context-Aware Smart LLM Switching for Cost and Performance Optimization
• Review: Department Project Review Committee, Academic Year 2026.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